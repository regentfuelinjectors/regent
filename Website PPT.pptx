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263" r:id="rId5"/>
    <p:sldId id="261" r:id="rId6"/>
    <p:sldId id="265" r:id="rId7"/>
    <p:sldId id="264" r:id="rId8"/>
    <p:sldId id="266"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yas Seliya" initials="ES" lastIdx="5" clrIdx="0">
    <p:extLst>
      <p:ext uri="{19B8F6BF-5375-455C-9EA6-DF929625EA0E}">
        <p15:presenceInfo xmlns:p15="http://schemas.microsoft.com/office/powerpoint/2012/main" userId="786eca39850f6d3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31A9D"/>
    <a:srgbClr val="D6D5D4"/>
    <a:srgbClr val="C0BEBC"/>
    <a:srgbClr val="CC0000"/>
    <a:srgbClr val="F226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6" autoAdjust="0"/>
    <p:restoredTop sz="94660"/>
  </p:normalViewPr>
  <p:slideViewPr>
    <p:cSldViewPr snapToGrid="0">
      <p:cViewPr varScale="1">
        <p:scale>
          <a:sx n="60" d="100"/>
          <a:sy n="60" d="100"/>
        </p:scale>
        <p:origin x="96"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yas Seliya" userId="786eca39850f6d37" providerId="LiveId" clId="{F060455F-DBDE-4A74-8779-434B818D2B88}"/>
    <pc:docChg chg="undo custSel addSld modSld sldOrd">
      <pc:chgData name="Elyas Seliya" userId="786eca39850f6d37" providerId="LiveId" clId="{F060455F-DBDE-4A74-8779-434B818D2B88}" dt="2026-09-18T10:39:19.538" v="150" actId="1076"/>
      <pc:docMkLst>
        <pc:docMk/>
      </pc:docMkLst>
      <pc:sldChg chg="modSp mod">
        <pc:chgData name="Elyas Seliya" userId="786eca39850f6d37" providerId="LiveId" clId="{F060455F-DBDE-4A74-8779-434B818D2B88}" dt="2026-09-17T13:54:40.274" v="100" actId="1076"/>
        <pc:sldMkLst>
          <pc:docMk/>
          <pc:sldMk cId="4200247509" sldId="256"/>
        </pc:sldMkLst>
        <pc:spChg chg="mod">
          <ac:chgData name="Elyas Seliya" userId="786eca39850f6d37" providerId="LiveId" clId="{F060455F-DBDE-4A74-8779-434B818D2B88}" dt="2026-09-17T13:54:25.555" v="90" actId="1076"/>
          <ac:spMkLst>
            <pc:docMk/>
            <pc:sldMk cId="4200247509" sldId="256"/>
            <ac:spMk id="9" creationId="{00000000-0000-0000-0000-000000000000}"/>
          </ac:spMkLst>
        </pc:spChg>
        <pc:spChg chg="mod">
          <ac:chgData name="Elyas Seliya" userId="786eca39850f6d37" providerId="LiveId" clId="{F060455F-DBDE-4A74-8779-434B818D2B88}" dt="2026-09-17T13:54:24.759" v="89" actId="1076"/>
          <ac:spMkLst>
            <pc:docMk/>
            <pc:sldMk cId="4200247509" sldId="256"/>
            <ac:spMk id="10" creationId="{00000000-0000-0000-0000-000000000000}"/>
          </ac:spMkLst>
        </pc:spChg>
        <pc:spChg chg="mod">
          <ac:chgData name="Elyas Seliya" userId="786eca39850f6d37" providerId="LiveId" clId="{F060455F-DBDE-4A74-8779-434B818D2B88}" dt="2026-09-17T13:54:27.727" v="97" actId="1076"/>
          <ac:spMkLst>
            <pc:docMk/>
            <pc:sldMk cId="4200247509" sldId="256"/>
            <ac:spMk id="11" creationId="{00000000-0000-0000-0000-000000000000}"/>
          </ac:spMkLst>
        </pc:spChg>
        <pc:spChg chg="mod">
          <ac:chgData name="Elyas Seliya" userId="786eca39850f6d37" providerId="LiveId" clId="{F060455F-DBDE-4A74-8779-434B818D2B88}" dt="2026-09-17T13:54:26.337" v="93" actId="1076"/>
          <ac:spMkLst>
            <pc:docMk/>
            <pc:sldMk cId="4200247509" sldId="256"/>
            <ac:spMk id="12" creationId="{00000000-0000-0000-0000-000000000000}"/>
          </ac:spMkLst>
        </pc:spChg>
        <pc:spChg chg="mod">
          <ac:chgData name="Elyas Seliya" userId="786eca39850f6d37" providerId="LiveId" clId="{F060455F-DBDE-4A74-8779-434B818D2B88}" dt="2026-09-17T13:54:26.680" v="94" actId="1076"/>
          <ac:spMkLst>
            <pc:docMk/>
            <pc:sldMk cId="4200247509" sldId="256"/>
            <ac:spMk id="13" creationId="{00000000-0000-0000-0000-000000000000}"/>
          </ac:spMkLst>
        </pc:spChg>
        <pc:spChg chg="mod">
          <ac:chgData name="Elyas Seliya" userId="786eca39850f6d37" providerId="LiveId" clId="{F060455F-DBDE-4A74-8779-434B818D2B88}" dt="2026-09-17T13:54:28.227" v="98" actId="1076"/>
          <ac:spMkLst>
            <pc:docMk/>
            <pc:sldMk cId="4200247509" sldId="256"/>
            <ac:spMk id="14" creationId="{00000000-0000-0000-0000-000000000000}"/>
          </ac:spMkLst>
        </pc:spChg>
        <pc:spChg chg="mod">
          <ac:chgData name="Elyas Seliya" userId="786eca39850f6d37" providerId="LiveId" clId="{F060455F-DBDE-4A74-8779-434B818D2B88}" dt="2026-09-17T13:54:40.274" v="100" actId="1076"/>
          <ac:spMkLst>
            <pc:docMk/>
            <pc:sldMk cId="4200247509" sldId="256"/>
            <ac:spMk id="15" creationId="{00000000-0000-0000-0000-000000000000}"/>
          </ac:spMkLst>
        </pc:spChg>
        <pc:picChg chg="mod">
          <ac:chgData name="Elyas Seliya" userId="786eca39850f6d37" providerId="LiveId" clId="{F060455F-DBDE-4A74-8779-434B818D2B88}" dt="2026-09-17T13:54:25.821" v="91" actId="1076"/>
          <ac:picMkLst>
            <pc:docMk/>
            <pc:sldMk cId="4200247509" sldId="256"/>
            <ac:picMk id="4" creationId="{00000000-0000-0000-0000-000000000000}"/>
          </ac:picMkLst>
        </pc:picChg>
        <pc:picChg chg="mod">
          <ac:chgData name="Elyas Seliya" userId="786eca39850f6d37" providerId="LiveId" clId="{F060455F-DBDE-4A74-8779-434B818D2B88}" dt="2026-09-17T13:54:28.665" v="99" actId="1076"/>
          <ac:picMkLst>
            <pc:docMk/>
            <pc:sldMk cId="4200247509" sldId="256"/>
            <ac:picMk id="17" creationId="{00000000-0000-0000-0000-000000000000}"/>
          </ac:picMkLst>
        </pc:picChg>
      </pc:sldChg>
      <pc:sldChg chg="delSp modSp mod">
        <pc:chgData name="Elyas Seliya" userId="786eca39850f6d37" providerId="LiveId" clId="{F060455F-DBDE-4A74-8779-434B818D2B88}" dt="2026-09-17T14:07:07.774" v="137" actId="21"/>
        <pc:sldMkLst>
          <pc:docMk/>
          <pc:sldMk cId="1639564949" sldId="257"/>
        </pc:sldMkLst>
        <pc:spChg chg="del mod">
          <ac:chgData name="Elyas Seliya" userId="786eca39850f6d37" providerId="LiveId" clId="{F060455F-DBDE-4A74-8779-434B818D2B88}" dt="2026-09-17T14:07:07.774" v="137" actId="21"/>
          <ac:spMkLst>
            <pc:docMk/>
            <pc:sldMk cId="1639564949" sldId="257"/>
            <ac:spMk id="2" creationId="{6CDCD106-6CDD-4783-BC25-ABE3E7F4A8EF}"/>
          </ac:spMkLst>
        </pc:spChg>
        <pc:spChg chg="del mod">
          <ac:chgData name="Elyas Seliya" userId="786eca39850f6d37" providerId="LiveId" clId="{F060455F-DBDE-4A74-8779-434B818D2B88}" dt="2026-09-17T14:06:43.415" v="133" actId="21"/>
          <ac:spMkLst>
            <pc:docMk/>
            <pc:sldMk cId="1639564949" sldId="257"/>
            <ac:spMk id="18" creationId="{00000000-0000-0000-0000-000000000000}"/>
          </ac:spMkLst>
        </pc:spChg>
        <pc:spChg chg="del mod">
          <ac:chgData name="Elyas Seliya" userId="786eca39850f6d37" providerId="LiveId" clId="{F060455F-DBDE-4A74-8779-434B818D2B88}" dt="2026-09-17T14:06:43.415" v="133" actId="21"/>
          <ac:spMkLst>
            <pc:docMk/>
            <pc:sldMk cId="1639564949" sldId="257"/>
            <ac:spMk id="19" creationId="{00000000-0000-0000-0000-000000000000}"/>
          </ac:spMkLst>
        </pc:spChg>
      </pc:sldChg>
      <pc:sldChg chg="addSp delSp modSp mod ord">
        <pc:chgData name="Elyas Seliya" userId="786eca39850f6d37" providerId="LiveId" clId="{F060455F-DBDE-4A74-8779-434B818D2B88}" dt="2026-09-18T10:39:19.538" v="150" actId="1076"/>
        <pc:sldMkLst>
          <pc:docMk/>
          <pc:sldMk cId="3624850445" sldId="263"/>
        </pc:sldMkLst>
        <pc:spChg chg="mod">
          <ac:chgData name="Elyas Seliya" userId="786eca39850f6d37" providerId="LiveId" clId="{F060455F-DBDE-4A74-8779-434B818D2B88}" dt="2026-09-18T10:39:11.867" v="148" actId="1076"/>
          <ac:spMkLst>
            <pc:docMk/>
            <pc:sldMk cId="3624850445" sldId="263"/>
            <ac:spMk id="2" creationId="{92BD707C-A197-442E-91F9-04F4BF68CC36}"/>
          </ac:spMkLst>
        </pc:spChg>
        <pc:spChg chg="del mod">
          <ac:chgData name="Elyas Seliya" userId="786eca39850f6d37" providerId="LiveId" clId="{F060455F-DBDE-4A74-8779-434B818D2B88}" dt="2026-09-17T14:04:40.287" v="112"/>
          <ac:spMkLst>
            <pc:docMk/>
            <pc:sldMk cId="3624850445" sldId="263"/>
            <ac:spMk id="3" creationId="{3B9E4068-F47B-452E-90C5-97BA099F90F9}"/>
          </ac:spMkLst>
        </pc:spChg>
        <pc:spChg chg="mod">
          <ac:chgData name="Elyas Seliya" userId="786eca39850f6d37" providerId="LiveId" clId="{F060455F-DBDE-4A74-8779-434B818D2B88}" dt="2026-09-18T10:39:19.538" v="150" actId="1076"/>
          <ac:spMkLst>
            <pc:docMk/>
            <pc:sldMk cId="3624850445" sldId="263"/>
            <ac:spMk id="4" creationId="{A1C930CC-F04B-47C2-B418-05F29DD75782}"/>
          </ac:spMkLst>
        </pc:spChg>
        <pc:spChg chg="add mod">
          <ac:chgData name="Elyas Seliya" userId="786eca39850f6d37" providerId="LiveId" clId="{F060455F-DBDE-4A74-8779-434B818D2B88}" dt="2026-09-18T10:39:14.617" v="149" actId="1076"/>
          <ac:spMkLst>
            <pc:docMk/>
            <pc:sldMk cId="3624850445" sldId="263"/>
            <ac:spMk id="7" creationId="{B8D21E26-C233-44CE-B973-943766ED03C4}"/>
          </ac:spMkLst>
        </pc:spChg>
        <pc:picChg chg="mod ord">
          <ac:chgData name="Elyas Seliya" userId="786eca39850f6d37" providerId="LiveId" clId="{F060455F-DBDE-4A74-8779-434B818D2B88}" dt="2026-09-17T14:04:30.132" v="109" actId="1076"/>
          <ac:picMkLst>
            <pc:docMk/>
            <pc:sldMk cId="3624850445" sldId="263"/>
            <ac:picMk id="10" creationId="{FABF8324-844E-46F1-ABDD-DCDE6B5B4CDF}"/>
          </ac:picMkLst>
        </pc:picChg>
      </pc:sldChg>
      <pc:sldChg chg="delSp modSp mod ord">
        <pc:chgData name="Elyas Seliya" userId="786eca39850f6d37" providerId="LiveId" clId="{F060455F-DBDE-4A74-8779-434B818D2B88}" dt="2026-09-18T10:38:09.275" v="142"/>
        <pc:sldMkLst>
          <pc:docMk/>
          <pc:sldMk cId="1580090039" sldId="264"/>
        </pc:sldMkLst>
        <pc:spChg chg="del mod">
          <ac:chgData name="Elyas Seliya" userId="786eca39850f6d37" providerId="LiveId" clId="{F060455F-DBDE-4A74-8779-434B818D2B88}" dt="2026-09-17T14:05:58.254" v="121" actId="21"/>
          <ac:spMkLst>
            <pc:docMk/>
            <pc:sldMk cId="1580090039" sldId="264"/>
            <ac:spMk id="5" creationId="{B17B8C05-82E5-4131-B5D1-192810621E96}"/>
          </ac:spMkLst>
        </pc:spChg>
        <pc:spChg chg="del mod">
          <ac:chgData name="Elyas Seliya" userId="786eca39850f6d37" providerId="LiveId" clId="{F060455F-DBDE-4A74-8779-434B818D2B88}" dt="2026-09-17T14:06:09.660" v="124" actId="21"/>
          <ac:spMkLst>
            <pc:docMk/>
            <pc:sldMk cId="1580090039" sldId="264"/>
            <ac:spMk id="6" creationId="{F9FFB290-6617-4D43-A0BA-C2C91FA9A9AE}"/>
          </ac:spMkLst>
        </pc:spChg>
        <pc:picChg chg="mod">
          <ac:chgData name="Elyas Seliya" userId="786eca39850f6d37" providerId="LiveId" clId="{F060455F-DBDE-4A74-8779-434B818D2B88}" dt="2026-09-17T13:27:38.392" v="40" actId="1076"/>
          <ac:picMkLst>
            <pc:docMk/>
            <pc:sldMk cId="1580090039" sldId="264"/>
            <ac:picMk id="3" creationId="{D9F88D4B-8388-45DA-8DF1-2644BA5F3915}"/>
          </ac:picMkLst>
        </pc:picChg>
        <pc:picChg chg="del">
          <ac:chgData name="Elyas Seliya" userId="786eca39850f6d37" providerId="LiveId" clId="{F060455F-DBDE-4A74-8779-434B818D2B88}" dt="2026-09-17T14:06:26.738" v="130" actId="21"/>
          <ac:picMkLst>
            <pc:docMk/>
            <pc:sldMk cId="1580090039" sldId="264"/>
            <ac:picMk id="7" creationId="{84ADB64C-04B4-4D99-A016-49B07BC870B6}"/>
          </ac:picMkLst>
        </pc:picChg>
      </pc:sldChg>
      <pc:sldChg chg="addSp modSp new mod">
        <pc:chgData name="Elyas Seliya" userId="786eca39850f6d37" providerId="LiveId" clId="{F060455F-DBDE-4A74-8779-434B818D2B88}" dt="2026-09-17T14:07:10.008" v="138"/>
        <pc:sldMkLst>
          <pc:docMk/>
          <pc:sldMk cId="4056810623" sldId="270"/>
        </pc:sldMkLst>
        <pc:spChg chg="add mod">
          <ac:chgData name="Elyas Seliya" userId="786eca39850f6d37" providerId="LiveId" clId="{F060455F-DBDE-4A74-8779-434B818D2B88}" dt="2026-09-17T14:06:15.300" v="126" actId="1076"/>
          <ac:spMkLst>
            <pc:docMk/>
            <pc:sldMk cId="4056810623" sldId="270"/>
            <ac:spMk id="2" creationId="{F8A363A8-3E02-43F5-AED4-F3F8098A48A1}"/>
          </ac:spMkLst>
        </pc:spChg>
        <pc:spChg chg="add mod">
          <ac:chgData name="Elyas Seliya" userId="786eca39850f6d37" providerId="LiveId" clId="{F060455F-DBDE-4A74-8779-434B818D2B88}" dt="2026-09-17T14:06:21.957" v="129" actId="1076"/>
          <ac:spMkLst>
            <pc:docMk/>
            <pc:sldMk cId="4056810623" sldId="270"/>
            <ac:spMk id="3" creationId="{5FA0E94F-33E3-45B6-A010-578DD3AC394C}"/>
          </ac:spMkLst>
        </pc:spChg>
        <pc:spChg chg="add mod">
          <ac:chgData name="Elyas Seliya" userId="786eca39850f6d37" providerId="LiveId" clId="{F060455F-DBDE-4A74-8779-434B818D2B88}" dt="2026-09-17T14:06:56.259" v="136" actId="14100"/>
          <ac:spMkLst>
            <pc:docMk/>
            <pc:sldMk cId="4056810623" sldId="270"/>
            <ac:spMk id="5" creationId="{57A9FD72-352F-4722-BE4F-E6340E246645}"/>
          </ac:spMkLst>
        </pc:spChg>
        <pc:spChg chg="add mod">
          <ac:chgData name="Elyas Seliya" userId="786eca39850f6d37" providerId="LiveId" clId="{F060455F-DBDE-4A74-8779-434B818D2B88}" dt="2026-09-17T14:06:48.634" v="135" actId="1076"/>
          <ac:spMkLst>
            <pc:docMk/>
            <pc:sldMk cId="4056810623" sldId="270"/>
            <ac:spMk id="6" creationId="{9E991D0C-2F7F-45C7-8001-0AF6AEF0A47D}"/>
          </ac:spMkLst>
        </pc:spChg>
        <pc:spChg chg="add mod">
          <ac:chgData name="Elyas Seliya" userId="786eca39850f6d37" providerId="LiveId" clId="{F060455F-DBDE-4A74-8779-434B818D2B88}" dt="2026-09-17T14:07:10.008" v="138"/>
          <ac:spMkLst>
            <pc:docMk/>
            <pc:sldMk cId="4056810623" sldId="270"/>
            <ac:spMk id="7" creationId="{C9B41482-863F-4638-816E-65EC48DA39A3}"/>
          </ac:spMkLst>
        </pc:spChg>
        <pc:picChg chg="add mod">
          <ac:chgData name="Elyas Seliya" userId="786eca39850f6d37" providerId="LiveId" clId="{F060455F-DBDE-4A74-8779-434B818D2B88}" dt="2026-09-17T14:06:32.462" v="132" actId="1076"/>
          <ac:picMkLst>
            <pc:docMk/>
            <pc:sldMk cId="4056810623" sldId="270"/>
            <ac:picMk id="4" creationId="{ECD51FA6-1239-45ED-9055-9E341C832849}"/>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5-10-21T16:04:56.866" idx="1">
    <p:pos x="8251" y="2991"/>
    <p:text/>
    <p:extLst>
      <p:ext uri="{C676402C-5697-4E1C-873F-D02D1690AC5C}">
        <p15:threadingInfo xmlns:p15="http://schemas.microsoft.com/office/powerpoint/2012/main" timeZoneBias="-330"/>
      </p:ext>
    </p:extLst>
  </p:cm>
  <p:cm authorId="1" dt="2025-10-25T14:43:16.344" idx="2">
    <p:pos x="3914" y="1493"/>
    <p:text>Please suggest better words</p:text>
    <p:extLst>
      <p:ext uri="{C676402C-5697-4E1C-873F-D02D1690AC5C}">
        <p15:threadingInfo xmlns:p15="http://schemas.microsoft.com/office/powerpoint/2012/main" timeZoneBias="-330"/>
      </p:ext>
    </p:extLst>
  </p:cm>
  <p:cm authorId="1" dt="2025-10-25T14:44:11.735" idx="3">
    <p:pos x="10" y="1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B804627-B137-4400-8D94-BE2C5893C558}"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3036342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804627-B137-4400-8D94-BE2C5893C558}"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3902718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804627-B137-4400-8D94-BE2C5893C558}"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1606923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B804627-B137-4400-8D94-BE2C5893C558}"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1953535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804627-B137-4400-8D94-BE2C5893C558}"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421097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B804627-B137-4400-8D94-BE2C5893C558}"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2270002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804627-B137-4400-8D94-BE2C5893C558}"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708986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804627-B137-4400-8D94-BE2C5893C558}"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4038315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804627-B137-4400-8D94-BE2C5893C558}"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208564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804627-B137-4400-8D94-BE2C5893C558}"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1815746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804627-B137-4400-8D94-BE2C5893C558}"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D45472-2763-4029-8BAA-2CD26F421AFA}" type="slidenum">
              <a:rPr lang="en-US" smtClean="0"/>
              <a:t>‹#›</a:t>
            </a:fld>
            <a:endParaRPr lang="en-US"/>
          </a:p>
        </p:txBody>
      </p:sp>
    </p:spTree>
    <p:extLst>
      <p:ext uri="{BB962C8B-B14F-4D97-AF65-F5344CB8AC3E}">
        <p14:creationId xmlns:p14="http://schemas.microsoft.com/office/powerpoint/2010/main" val="2854313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804627-B137-4400-8D94-BE2C5893C558}" type="datetimeFigureOut">
              <a:rPr lang="en-US" smtClean="0"/>
              <a:t>9/18/2026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D45472-2763-4029-8BAA-2CD26F421AFA}" type="slidenum">
              <a:rPr lang="en-US" smtClean="0"/>
              <a:t>‹#›</a:t>
            </a:fld>
            <a:endParaRPr lang="en-US"/>
          </a:p>
        </p:txBody>
      </p:sp>
    </p:spTree>
    <p:extLst>
      <p:ext uri="{BB962C8B-B14F-4D97-AF65-F5344CB8AC3E}">
        <p14:creationId xmlns:p14="http://schemas.microsoft.com/office/powerpoint/2010/main" val="106053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jpeg"/><Relationship Id="rId7" Type="http://schemas.openxmlformats.org/officeDocument/2006/relationships/image" Target="../media/image9.jpeg"/><Relationship Id="rId12" Type="http://schemas.openxmlformats.org/officeDocument/2006/relationships/image" Target="../media/image14.jpeg"/><Relationship Id="rId17" Type="http://schemas.openxmlformats.org/officeDocument/2006/relationships/image" Target="../media/image19.png"/><Relationship Id="rId2" Type="http://schemas.openxmlformats.org/officeDocument/2006/relationships/image" Target="../media/image4.jpe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7.jpeg"/><Relationship Id="rId15" Type="http://schemas.openxmlformats.org/officeDocument/2006/relationships/image" Target="../media/image17.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jpeg"/><Relationship Id="rId14" Type="http://schemas.openxmlformats.org/officeDocument/2006/relationships/image" Target="../media/image16.jpeg"/></Relationships>
</file>

<file path=ppt/slides/_rels/slide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comments" Target="../comments/comment1.xml"/><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398493" y="113896"/>
            <a:ext cx="9130553" cy="12525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8493" y="-415202"/>
            <a:ext cx="2531165" cy="2519483"/>
          </a:xfrm>
          <a:prstGeom prst="rect">
            <a:avLst/>
          </a:prstGeom>
        </p:spPr>
      </p:pic>
      <p:sp>
        <p:nvSpPr>
          <p:cNvPr id="7" name="TextBox 6"/>
          <p:cNvSpPr txBox="1"/>
          <p:nvPr/>
        </p:nvSpPr>
        <p:spPr>
          <a:xfrm>
            <a:off x="4948518" y="997121"/>
            <a:ext cx="5580528" cy="369332"/>
          </a:xfrm>
          <a:prstGeom prst="rect">
            <a:avLst/>
          </a:prstGeom>
          <a:noFill/>
        </p:spPr>
        <p:txBody>
          <a:bodyPr wrap="square" rtlCol="0">
            <a:spAutoFit/>
          </a:bodyPr>
          <a:lstStyle/>
          <a:p>
            <a:r>
              <a:rPr lang="en-US" dirty="0"/>
              <a:t>Home    About us    Service   Product   F&amp;Q    Contact us</a:t>
            </a:r>
          </a:p>
        </p:txBody>
      </p:sp>
      <p:sp>
        <p:nvSpPr>
          <p:cNvPr id="8" name="TextBox 7"/>
          <p:cNvSpPr txBox="1"/>
          <p:nvPr/>
        </p:nvSpPr>
        <p:spPr>
          <a:xfrm>
            <a:off x="8216152" y="283356"/>
            <a:ext cx="2312894" cy="369332"/>
          </a:xfrm>
          <a:prstGeom prst="rect">
            <a:avLst/>
          </a:prstGeom>
          <a:noFill/>
        </p:spPr>
        <p:txBody>
          <a:bodyPr wrap="square" rtlCol="0">
            <a:spAutoFit/>
          </a:bodyPr>
          <a:lstStyle/>
          <a:p>
            <a:r>
              <a:rPr lang="en-US" dirty="0"/>
              <a:t>Email id, contact no.:</a:t>
            </a:r>
          </a:p>
        </p:txBody>
      </p:sp>
      <p:sp>
        <p:nvSpPr>
          <p:cNvPr id="9" name="Rectangle 8"/>
          <p:cNvSpPr/>
          <p:nvPr/>
        </p:nvSpPr>
        <p:spPr>
          <a:xfrm>
            <a:off x="1398493" y="1652793"/>
            <a:ext cx="9130553" cy="15329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0" name="TextBox 9"/>
          <p:cNvSpPr txBox="1"/>
          <p:nvPr/>
        </p:nvSpPr>
        <p:spPr>
          <a:xfrm>
            <a:off x="1586753" y="1858762"/>
            <a:ext cx="7342094" cy="1200329"/>
          </a:xfrm>
          <a:prstGeom prst="rect">
            <a:avLst/>
          </a:prstGeom>
          <a:noFill/>
        </p:spPr>
        <p:txBody>
          <a:bodyPr wrap="square" rtlCol="0">
            <a:spAutoFit/>
          </a:bodyPr>
          <a:lstStyle/>
          <a:p>
            <a:r>
              <a:rPr lang="en-US" dirty="0"/>
              <a:t>Automotive Fuel Injector – 1 Car image + 6 injector images</a:t>
            </a:r>
          </a:p>
          <a:p>
            <a:r>
              <a:rPr lang="en-US" dirty="0"/>
              <a:t>Marine Fuel Injector – 2 boat images + injector </a:t>
            </a:r>
          </a:p>
          <a:p>
            <a:r>
              <a:rPr lang="en-US" dirty="0"/>
              <a:t>Motor Bike Fuel Injector – 1 Bike Image + Injector</a:t>
            </a:r>
          </a:p>
          <a:p>
            <a:r>
              <a:rPr lang="en-US" dirty="0"/>
              <a:t>GDI Injector – 1 Car Image + 5 Injector images</a:t>
            </a:r>
          </a:p>
        </p:txBody>
      </p:sp>
      <p:sp>
        <p:nvSpPr>
          <p:cNvPr id="11" name="Rectangle 10"/>
          <p:cNvSpPr/>
          <p:nvPr/>
        </p:nvSpPr>
        <p:spPr>
          <a:xfrm>
            <a:off x="1398493" y="3481043"/>
            <a:ext cx="9130553" cy="12505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109880" y="3481043"/>
            <a:ext cx="1707777" cy="369332"/>
          </a:xfrm>
          <a:prstGeom prst="rect">
            <a:avLst/>
          </a:prstGeom>
          <a:noFill/>
        </p:spPr>
        <p:txBody>
          <a:bodyPr wrap="square" rtlCol="0">
            <a:spAutoFit/>
          </a:bodyPr>
          <a:lstStyle/>
          <a:p>
            <a:r>
              <a:rPr lang="en-US" dirty="0"/>
              <a:t>OUR SERVICES</a:t>
            </a:r>
          </a:p>
        </p:txBody>
      </p:sp>
      <p:sp>
        <p:nvSpPr>
          <p:cNvPr id="13" name="TextBox 12"/>
          <p:cNvSpPr txBox="1"/>
          <p:nvPr/>
        </p:nvSpPr>
        <p:spPr>
          <a:xfrm>
            <a:off x="1694327" y="3967832"/>
            <a:ext cx="8538882" cy="646331"/>
          </a:xfrm>
          <a:prstGeom prst="rect">
            <a:avLst/>
          </a:prstGeom>
          <a:noFill/>
        </p:spPr>
        <p:txBody>
          <a:bodyPr wrap="square" rtlCol="0">
            <a:spAutoFit/>
          </a:bodyPr>
          <a:lstStyle/>
          <a:p>
            <a:r>
              <a:rPr lang="en-US" dirty="0"/>
              <a:t>Professionals in diagnostic testing servicing and cleaning of all types of Petrol and Gasoline fuel injectors used on cars, bikes and marine engines.</a:t>
            </a:r>
          </a:p>
        </p:txBody>
      </p:sp>
      <p:sp>
        <p:nvSpPr>
          <p:cNvPr id="14" name="Rounded Rectangle 13"/>
          <p:cNvSpPr/>
          <p:nvPr/>
        </p:nvSpPr>
        <p:spPr>
          <a:xfrm>
            <a:off x="2662517" y="4833013"/>
            <a:ext cx="6575613" cy="56652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5" name="TextBox 14"/>
          <p:cNvSpPr txBox="1"/>
          <p:nvPr/>
        </p:nvSpPr>
        <p:spPr>
          <a:xfrm>
            <a:off x="3726392" y="4937869"/>
            <a:ext cx="6182530" cy="461665"/>
          </a:xfrm>
          <a:prstGeom prst="rect">
            <a:avLst/>
          </a:prstGeom>
          <a:noFill/>
        </p:spPr>
        <p:txBody>
          <a:bodyPr wrap="square" rtlCol="0">
            <a:spAutoFit/>
          </a:bodyPr>
          <a:lstStyle/>
          <a:p>
            <a:r>
              <a:rPr lang="en-US" sz="2400" b="1" dirty="0">
                <a:solidFill>
                  <a:srgbClr val="FF0000"/>
                </a:solidFill>
              </a:rPr>
              <a:t>   ASNU authorized Service Centre in India</a:t>
            </a: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8033" y="4669380"/>
            <a:ext cx="986117" cy="986117"/>
          </a:xfrm>
          <a:prstGeom prst="rect">
            <a:avLst/>
          </a:prstGeom>
        </p:spPr>
      </p:pic>
      <p:sp>
        <p:nvSpPr>
          <p:cNvPr id="18" name="Rectangle 17"/>
          <p:cNvSpPr/>
          <p:nvPr/>
        </p:nvSpPr>
        <p:spPr>
          <a:xfrm>
            <a:off x="1586753" y="5655497"/>
            <a:ext cx="9036423" cy="65117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1586753" y="5790190"/>
            <a:ext cx="9238129" cy="400110"/>
          </a:xfrm>
          <a:prstGeom prst="rect">
            <a:avLst/>
          </a:prstGeom>
          <a:noFill/>
        </p:spPr>
        <p:txBody>
          <a:bodyPr wrap="square" rtlCol="0">
            <a:spAutoFit/>
          </a:bodyPr>
          <a:lstStyle/>
          <a:p>
            <a:r>
              <a:rPr lang="en-US" sz="2000" b="1" i="1" dirty="0">
                <a:ln w="0"/>
                <a:solidFill>
                  <a:srgbClr val="CC0000"/>
                </a:solidFill>
                <a:effectLst>
                  <a:outerShdw blurRad="38100" dist="19050" dir="2700000" algn="tl" rotWithShape="0">
                    <a:schemeClr val="dk1">
                      <a:alpha val="40000"/>
                    </a:schemeClr>
                  </a:outerShdw>
                </a:effectLst>
              </a:rPr>
              <a:t>95% OF FUEL INJECTOR DONOT FAIL, SO WHY REPLACE                   GET THEM CLEANED </a:t>
            </a:r>
          </a:p>
        </p:txBody>
      </p:sp>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3310319">
            <a:off x="7709765" y="5597913"/>
            <a:ext cx="441581" cy="617952"/>
          </a:xfrm>
          <a:prstGeom prst="rect">
            <a:avLst/>
          </a:prstGeom>
        </p:spPr>
      </p:pic>
    </p:spTree>
    <p:extLst>
      <p:ext uri="{BB962C8B-B14F-4D97-AF65-F5344CB8AC3E}">
        <p14:creationId xmlns:p14="http://schemas.microsoft.com/office/powerpoint/2010/main" val="4200247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41294" y="389965"/>
            <a:ext cx="9305365" cy="71269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TextBox 4"/>
          <p:cNvSpPr txBox="1"/>
          <p:nvPr/>
        </p:nvSpPr>
        <p:spPr>
          <a:xfrm>
            <a:off x="4195483" y="561646"/>
            <a:ext cx="1936376" cy="400110"/>
          </a:xfrm>
          <a:prstGeom prst="rect">
            <a:avLst/>
          </a:prstGeom>
          <a:noFill/>
        </p:spPr>
        <p:txBody>
          <a:bodyPr wrap="square" rtlCol="0">
            <a:spAutoFit/>
          </a:bodyPr>
          <a:lstStyle/>
          <a:p>
            <a:r>
              <a:rPr lang="en-US" sz="2000" dirty="0"/>
              <a:t>OUR</a:t>
            </a:r>
            <a:r>
              <a:rPr lang="en-US" sz="1400" dirty="0"/>
              <a:t> </a:t>
            </a:r>
            <a:r>
              <a:rPr lang="en-US" sz="2000" dirty="0"/>
              <a:t>PRODUCTS</a:t>
            </a:r>
            <a:endParaRPr lang="en-US" sz="1400" dirty="0"/>
          </a:p>
        </p:txBody>
      </p:sp>
      <p:sp>
        <p:nvSpPr>
          <p:cNvPr id="8" name="Rectangle 7"/>
          <p:cNvSpPr/>
          <p:nvPr/>
        </p:nvSpPr>
        <p:spPr>
          <a:xfrm>
            <a:off x="1117155" y="3104032"/>
            <a:ext cx="1600202" cy="385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400"/>
          </a:p>
        </p:txBody>
      </p:sp>
      <p:sp>
        <p:nvSpPr>
          <p:cNvPr id="9" name="TextBox 8"/>
          <p:cNvSpPr txBox="1"/>
          <p:nvPr/>
        </p:nvSpPr>
        <p:spPr>
          <a:xfrm>
            <a:off x="1099528" y="3169132"/>
            <a:ext cx="1606925" cy="276999"/>
          </a:xfrm>
          <a:prstGeom prst="rect">
            <a:avLst/>
          </a:prstGeom>
          <a:noFill/>
        </p:spPr>
        <p:txBody>
          <a:bodyPr wrap="square" rtlCol="0">
            <a:spAutoFit/>
          </a:bodyPr>
          <a:lstStyle/>
          <a:p>
            <a:r>
              <a:rPr lang="en-US" sz="1200" dirty="0"/>
              <a:t>REFURBISH INJECCTOR</a:t>
            </a:r>
          </a:p>
        </p:txBody>
      </p:sp>
      <p:sp>
        <p:nvSpPr>
          <p:cNvPr id="10" name="Rectangle 9"/>
          <p:cNvSpPr/>
          <p:nvPr/>
        </p:nvSpPr>
        <p:spPr>
          <a:xfrm>
            <a:off x="3023061" y="3110553"/>
            <a:ext cx="1546413" cy="3629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400"/>
          </a:p>
        </p:txBody>
      </p:sp>
      <p:sp>
        <p:nvSpPr>
          <p:cNvPr id="11" name="TextBox 10"/>
          <p:cNvSpPr txBox="1"/>
          <p:nvPr/>
        </p:nvSpPr>
        <p:spPr>
          <a:xfrm>
            <a:off x="3121644" y="3130077"/>
            <a:ext cx="1506073" cy="276999"/>
          </a:xfrm>
          <a:prstGeom prst="rect">
            <a:avLst/>
          </a:prstGeom>
          <a:noFill/>
        </p:spPr>
        <p:txBody>
          <a:bodyPr wrap="square" rtlCol="0">
            <a:spAutoFit/>
          </a:bodyPr>
          <a:lstStyle/>
          <a:p>
            <a:r>
              <a:rPr lang="en-US" sz="1200" dirty="0"/>
              <a:t>INJECTOR FILTERS</a:t>
            </a:r>
          </a:p>
        </p:txBody>
      </p:sp>
      <p:sp>
        <p:nvSpPr>
          <p:cNvPr id="12" name="Rectangle 11"/>
          <p:cNvSpPr/>
          <p:nvPr/>
        </p:nvSpPr>
        <p:spPr>
          <a:xfrm>
            <a:off x="4869542" y="3113350"/>
            <a:ext cx="1555377" cy="3704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400"/>
          </a:p>
        </p:txBody>
      </p:sp>
      <p:sp>
        <p:nvSpPr>
          <p:cNvPr id="13" name="TextBox 12"/>
          <p:cNvSpPr txBox="1"/>
          <p:nvPr/>
        </p:nvSpPr>
        <p:spPr>
          <a:xfrm>
            <a:off x="4946041" y="3146856"/>
            <a:ext cx="1461251" cy="276999"/>
          </a:xfrm>
          <a:prstGeom prst="rect">
            <a:avLst/>
          </a:prstGeom>
          <a:noFill/>
        </p:spPr>
        <p:txBody>
          <a:bodyPr wrap="square" rtlCol="0">
            <a:spAutoFit/>
          </a:bodyPr>
          <a:lstStyle/>
          <a:p>
            <a:r>
              <a:rPr lang="en-US" sz="1200" dirty="0"/>
              <a:t>INJECTOR O-RING</a:t>
            </a:r>
          </a:p>
        </p:txBody>
      </p:sp>
      <p:sp>
        <p:nvSpPr>
          <p:cNvPr id="14" name="Rectangle 13"/>
          <p:cNvSpPr/>
          <p:nvPr/>
        </p:nvSpPr>
        <p:spPr>
          <a:xfrm>
            <a:off x="6776645" y="3132012"/>
            <a:ext cx="1479181" cy="3870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400"/>
          </a:p>
        </p:txBody>
      </p:sp>
      <p:sp>
        <p:nvSpPr>
          <p:cNvPr id="15" name="TextBox 14"/>
          <p:cNvSpPr txBox="1"/>
          <p:nvPr/>
        </p:nvSpPr>
        <p:spPr>
          <a:xfrm>
            <a:off x="6925136" y="3169132"/>
            <a:ext cx="1264031" cy="276999"/>
          </a:xfrm>
          <a:prstGeom prst="rect">
            <a:avLst/>
          </a:prstGeom>
          <a:noFill/>
        </p:spPr>
        <p:txBody>
          <a:bodyPr wrap="square" rtlCol="0">
            <a:spAutoFit/>
          </a:bodyPr>
          <a:lstStyle/>
          <a:p>
            <a:r>
              <a:rPr lang="en-US" sz="1200" dirty="0"/>
              <a:t>INJECTOR SEAL</a:t>
            </a:r>
          </a:p>
        </p:txBody>
      </p:sp>
      <p:sp>
        <p:nvSpPr>
          <p:cNvPr id="16" name="Rectangle 15"/>
          <p:cNvSpPr/>
          <p:nvPr/>
        </p:nvSpPr>
        <p:spPr>
          <a:xfrm>
            <a:off x="8527852" y="3142940"/>
            <a:ext cx="1726687" cy="385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400"/>
          </a:p>
        </p:txBody>
      </p:sp>
      <p:sp>
        <p:nvSpPr>
          <p:cNvPr id="17" name="TextBox 16"/>
          <p:cNvSpPr txBox="1"/>
          <p:nvPr/>
        </p:nvSpPr>
        <p:spPr>
          <a:xfrm>
            <a:off x="8527852" y="3146855"/>
            <a:ext cx="1726687" cy="283956"/>
          </a:xfrm>
          <a:prstGeom prst="rect">
            <a:avLst/>
          </a:prstGeom>
          <a:noFill/>
        </p:spPr>
        <p:txBody>
          <a:bodyPr wrap="square" rtlCol="0">
            <a:spAutoFit/>
          </a:bodyPr>
          <a:lstStyle/>
          <a:p>
            <a:r>
              <a:rPr lang="en-US" sz="1200" dirty="0"/>
              <a:t>INJECTOR PLASTIC PARTS</a:t>
            </a:r>
          </a:p>
        </p:txBody>
      </p:sp>
      <p:sp>
        <p:nvSpPr>
          <p:cNvPr id="20" name="Rectangle 19"/>
          <p:cNvSpPr/>
          <p:nvPr/>
        </p:nvSpPr>
        <p:spPr>
          <a:xfrm>
            <a:off x="3041269" y="1198336"/>
            <a:ext cx="1546414" cy="1857643"/>
          </a:xfrm>
          <a:prstGeom prst="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83242" y="1285229"/>
            <a:ext cx="599585" cy="532964"/>
          </a:xfrm>
          <a:prstGeom prst="rect">
            <a:avLst/>
          </a:prstGeom>
        </p:spPr>
      </p:pic>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3327" y="2496314"/>
            <a:ext cx="746467" cy="498807"/>
          </a:xfrm>
          <a:prstGeom prst="rect">
            <a:avLst/>
          </a:prstGeom>
        </p:spPr>
      </p:pic>
      <p:pic>
        <p:nvPicPr>
          <p:cNvPr id="23" name="image109.jpe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15396" y="1983680"/>
            <a:ext cx="424726" cy="470160"/>
          </a:xfrm>
          <a:prstGeom prst="rect">
            <a:avLst/>
          </a:prstGeom>
        </p:spPr>
      </p:pic>
      <p:pic>
        <p:nvPicPr>
          <p:cNvPr id="24" name="image168.jpe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06593" y="1866374"/>
            <a:ext cx="552881" cy="512851"/>
          </a:xfrm>
          <a:prstGeom prst="rect">
            <a:avLst/>
          </a:prstGeom>
        </p:spPr>
      </p:pic>
      <p:sp>
        <p:nvSpPr>
          <p:cNvPr id="25" name="Rectangle 24"/>
          <p:cNvSpPr/>
          <p:nvPr/>
        </p:nvSpPr>
        <p:spPr>
          <a:xfrm>
            <a:off x="4904277" y="1165991"/>
            <a:ext cx="1546414" cy="1857643"/>
          </a:xfrm>
          <a:prstGeom prst="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30" name="Rectangle 29"/>
          <p:cNvSpPr/>
          <p:nvPr/>
        </p:nvSpPr>
        <p:spPr>
          <a:xfrm>
            <a:off x="8708125" y="1163561"/>
            <a:ext cx="1546414" cy="1857643"/>
          </a:xfrm>
          <a:prstGeom prst="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31" name="Rectangle 30"/>
          <p:cNvSpPr/>
          <p:nvPr/>
        </p:nvSpPr>
        <p:spPr>
          <a:xfrm>
            <a:off x="6719955" y="1178636"/>
            <a:ext cx="1546414" cy="1857643"/>
          </a:xfrm>
          <a:prstGeom prst="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pic>
        <p:nvPicPr>
          <p:cNvPr id="32" name="image253.jpe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3472" y="1201096"/>
            <a:ext cx="659690" cy="615007"/>
          </a:xfrm>
          <a:prstGeom prst="rect">
            <a:avLst/>
          </a:prstGeom>
        </p:spPr>
      </p:pic>
      <p:pic>
        <p:nvPicPr>
          <p:cNvPr id="33" name="image257.jpe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24703" y="1599170"/>
            <a:ext cx="639733" cy="508287"/>
          </a:xfrm>
          <a:prstGeom prst="rect">
            <a:avLst/>
          </a:prstGeom>
        </p:spPr>
      </p:pic>
      <p:pic>
        <p:nvPicPr>
          <p:cNvPr id="34" name="image253.jpe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66022" y="1952889"/>
            <a:ext cx="571636" cy="532917"/>
          </a:xfrm>
          <a:prstGeom prst="rect">
            <a:avLst/>
          </a:prstGeom>
        </p:spPr>
      </p:pic>
      <p:pic>
        <p:nvPicPr>
          <p:cNvPr id="35" name="image250.jpeg"/>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rot="151444">
            <a:off x="7505009" y="2318439"/>
            <a:ext cx="672311" cy="552817"/>
          </a:xfrm>
          <a:prstGeom prst="rect">
            <a:avLst/>
          </a:prstGeom>
        </p:spPr>
      </p:pic>
      <p:pic>
        <p:nvPicPr>
          <p:cNvPr id="36" name="image418.jpeg"/>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784394" y="1240338"/>
            <a:ext cx="430102" cy="444900"/>
          </a:xfrm>
          <a:prstGeom prst="rect">
            <a:avLst/>
          </a:prstGeom>
        </p:spPr>
      </p:pic>
      <p:pic>
        <p:nvPicPr>
          <p:cNvPr id="38" name="image419.jpe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371289" y="1328296"/>
            <a:ext cx="430102" cy="438479"/>
          </a:xfrm>
          <a:prstGeom prst="rect">
            <a:avLst/>
          </a:prstGeom>
        </p:spPr>
      </p:pic>
      <p:pic>
        <p:nvPicPr>
          <p:cNvPr id="39" name="image422.jpeg"/>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800927" y="1573268"/>
            <a:ext cx="430102" cy="570419"/>
          </a:xfrm>
          <a:prstGeom prst="rect">
            <a:avLst/>
          </a:prstGeom>
        </p:spPr>
      </p:pic>
      <p:pic>
        <p:nvPicPr>
          <p:cNvPr id="41" name="Picture 4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744973" y="1762015"/>
            <a:ext cx="508944" cy="499401"/>
          </a:xfrm>
          <a:prstGeom prst="rect">
            <a:avLst/>
          </a:prstGeom>
        </p:spPr>
      </p:pic>
      <p:sp>
        <p:nvSpPr>
          <p:cNvPr id="42" name="Rectangle 41"/>
          <p:cNvSpPr/>
          <p:nvPr/>
        </p:nvSpPr>
        <p:spPr>
          <a:xfrm>
            <a:off x="968840" y="1200377"/>
            <a:ext cx="1823370" cy="1814992"/>
          </a:xfrm>
          <a:prstGeom prst="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pic>
        <p:nvPicPr>
          <p:cNvPr id="7" name="Picture 6">
            <a:extLst>
              <a:ext uri="{FF2B5EF4-FFF2-40B4-BE49-F238E27FC236}">
                <a16:creationId xmlns:a16="http://schemas.microsoft.com/office/drawing/2014/main" id="{D58578C0-0EB7-4AF4-A481-D9A619EC8D89}"/>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52862" y="1267148"/>
            <a:ext cx="1700934" cy="1711632"/>
          </a:xfrm>
          <a:prstGeom prst="rect">
            <a:avLst/>
          </a:prstGeom>
        </p:spPr>
      </p:pic>
      <p:pic>
        <p:nvPicPr>
          <p:cNvPr id="40" name="image220.jpeg">
            <a:extLst>
              <a:ext uri="{FF2B5EF4-FFF2-40B4-BE49-F238E27FC236}">
                <a16:creationId xmlns:a16="http://schemas.microsoft.com/office/drawing/2014/main" id="{00000000-0008-0000-0300-000011000000}"/>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951500" y="1429653"/>
            <a:ext cx="544782" cy="479929"/>
          </a:xfrm>
          <a:prstGeom prst="rect">
            <a:avLst/>
          </a:prstGeom>
        </p:spPr>
      </p:pic>
      <p:pic>
        <p:nvPicPr>
          <p:cNvPr id="6" name="Picture 5">
            <a:extLst>
              <a:ext uri="{FF2B5EF4-FFF2-40B4-BE49-F238E27FC236}">
                <a16:creationId xmlns:a16="http://schemas.microsoft.com/office/drawing/2014/main" id="{4A13C441-1D70-4D0C-92FF-1CB7592605ED}"/>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rot="5400000">
            <a:off x="4801719" y="1406198"/>
            <a:ext cx="1779949" cy="1433203"/>
          </a:xfrm>
          <a:prstGeom prst="rect">
            <a:avLst/>
          </a:prstGeom>
        </p:spPr>
      </p:pic>
      <p:pic>
        <p:nvPicPr>
          <p:cNvPr id="28" name="Picture 27">
            <a:extLst>
              <a:ext uri="{FF2B5EF4-FFF2-40B4-BE49-F238E27FC236}">
                <a16:creationId xmlns:a16="http://schemas.microsoft.com/office/drawing/2014/main" id="{62393BF9-1861-4A8D-87A7-6B8813918929}"/>
              </a:ext>
            </a:extLst>
          </p:cNvPr>
          <p:cNvPicPr>
            <a:picLocks noChangeAspect="1"/>
          </p:cNvPicPr>
          <p:nvPr/>
        </p:nvPicPr>
        <p:blipFill>
          <a:blip r:embed="rId17"/>
          <a:stretch>
            <a:fillRect/>
          </a:stretch>
        </p:blipFill>
        <p:spPr>
          <a:xfrm>
            <a:off x="9319672" y="1903910"/>
            <a:ext cx="533336" cy="421708"/>
          </a:xfrm>
          <a:prstGeom prst="rect">
            <a:avLst/>
          </a:prstGeom>
        </p:spPr>
      </p:pic>
      <p:pic>
        <p:nvPicPr>
          <p:cNvPr id="37" name="Picture 36">
            <a:extLst>
              <a:ext uri="{FF2B5EF4-FFF2-40B4-BE49-F238E27FC236}">
                <a16:creationId xmlns:a16="http://schemas.microsoft.com/office/drawing/2014/main" id="{8E6EC1B0-9B0D-4429-8C74-F9FA01E52E04}"/>
              </a:ext>
            </a:extLst>
          </p:cNvPr>
          <p:cNvPicPr>
            <a:picLocks noChangeAspect="1"/>
          </p:cNvPicPr>
          <p:nvPr/>
        </p:nvPicPr>
        <p:blipFill>
          <a:blip r:embed="rId18"/>
          <a:stretch>
            <a:fillRect/>
          </a:stretch>
        </p:blipFill>
        <p:spPr>
          <a:xfrm>
            <a:off x="9629265" y="2356471"/>
            <a:ext cx="412754" cy="439756"/>
          </a:xfrm>
          <a:prstGeom prst="rect">
            <a:avLst/>
          </a:prstGeom>
        </p:spPr>
      </p:pic>
    </p:spTree>
    <p:extLst>
      <p:ext uri="{BB962C8B-B14F-4D97-AF65-F5344CB8AC3E}">
        <p14:creationId xmlns:p14="http://schemas.microsoft.com/office/powerpoint/2010/main" val="1639564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363A8-3E02-43F5-AED4-F3F8098A48A1}"/>
              </a:ext>
            </a:extLst>
          </p:cNvPr>
          <p:cNvSpPr txBox="1"/>
          <p:nvPr/>
        </p:nvSpPr>
        <p:spPr>
          <a:xfrm>
            <a:off x="1109558" y="1752243"/>
            <a:ext cx="9972883" cy="2400657"/>
          </a:xfrm>
          <a:prstGeom prst="rect">
            <a:avLst/>
          </a:prstGeom>
          <a:solidFill>
            <a:schemeClr val="accent3">
              <a:lumMod val="20000"/>
              <a:lumOff val="80000"/>
            </a:schemeClr>
          </a:solidFill>
        </p:spPr>
        <p:txBody>
          <a:bodyPr wrap="square">
            <a:spAutoFit/>
          </a:bodyPr>
          <a:lstStyle/>
          <a:p>
            <a:pPr marL="345441" lvl="1">
              <a:lnSpc>
                <a:spcPts val="2000"/>
              </a:lnSpc>
              <a:tabLst>
                <a:tab pos="4030663" algn="l"/>
              </a:tabLst>
            </a:pPr>
            <a:r>
              <a:rPr lang="en-US" b="1" dirty="0">
                <a:latin typeface="Canva Sans Bold"/>
                <a:ea typeface="Canva Sans Bold"/>
                <a:cs typeface="Canva Sans Bold"/>
                <a:sym typeface="Canva Sans Bold"/>
              </a:rPr>
              <a:t>. </a:t>
            </a:r>
            <a:r>
              <a:rPr lang="en-US" b="1" dirty="0" err="1">
                <a:solidFill>
                  <a:srgbClr val="C00000"/>
                </a:solidFill>
                <a:latin typeface="Canva Sans Bold"/>
                <a:ea typeface="Canva Sans Bold"/>
                <a:cs typeface="Canva Sans Bold"/>
                <a:sym typeface="Canva Sans Bold"/>
              </a:rPr>
              <a:t>Solonoid</a:t>
            </a:r>
            <a:r>
              <a:rPr lang="en-US" b="1" dirty="0">
                <a:solidFill>
                  <a:srgbClr val="C00000"/>
                </a:solidFill>
                <a:latin typeface="Canva Sans Bold"/>
                <a:ea typeface="Canva Sans Bold"/>
                <a:cs typeface="Canva Sans Bold"/>
                <a:sym typeface="Canva Sans Bold"/>
              </a:rPr>
              <a:t> Direct  injector - GDI, ISI               . Multi-Port Fuel Injector – MPFI</a:t>
            </a:r>
          </a:p>
          <a:p>
            <a:pPr marL="345441" lvl="1">
              <a:lnSpc>
                <a:spcPts val="2000"/>
              </a:lnSpc>
              <a:tabLst>
                <a:tab pos="4030663" algn="l"/>
              </a:tabLst>
            </a:pPr>
            <a:r>
              <a:rPr lang="en-US" b="1" dirty="0">
                <a:solidFill>
                  <a:srgbClr val="C00000"/>
                </a:solidFill>
                <a:latin typeface="Canva Sans Bold"/>
                <a:ea typeface="Canva Sans Bold"/>
                <a:cs typeface="Canva Sans Bold"/>
                <a:sym typeface="Canva Sans Bold"/>
              </a:rPr>
              <a:t>   </a:t>
            </a:r>
          </a:p>
          <a:p>
            <a:pPr marL="345441" lvl="1">
              <a:lnSpc>
                <a:spcPts val="2000"/>
              </a:lnSpc>
              <a:tabLst>
                <a:tab pos="4030663" algn="l"/>
              </a:tabLst>
            </a:pPr>
            <a:r>
              <a:rPr lang="en-US" b="1" dirty="0">
                <a:solidFill>
                  <a:srgbClr val="C00000"/>
                </a:solidFill>
                <a:latin typeface="Canva Sans Bold"/>
                <a:ea typeface="Canva Sans Bold"/>
                <a:cs typeface="Canva Sans Bold"/>
                <a:sym typeface="Canva Sans Bold"/>
              </a:rPr>
              <a:t>. Central Port-Feed Injectors - CSFI, CPFI     . Throttle Body Injector-TBI, CF2</a:t>
            </a:r>
          </a:p>
          <a:p>
            <a:pPr marL="345441" lvl="1">
              <a:lnSpc>
                <a:spcPts val="2000"/>
              </a:lnSpc>
              <a:tabLst>
                <a:tab pos="4030663" algn="l"/>
              </a:tabLst>
            </a:pPr>
            <a:endParaRPr lang="en-US" b="1" dirty="0">
              <a:solidFill>
                <a:srgbClr val="C00000"/>
              </a:solidFill>
              <a:latin typeface="Canva Sans Bold"/>
              <a:ea typeface="Canva Sans Bold"/>
              <a:cs typeface="Canva Sans Bold"/>
              <a:sym typeface="Canva Sans Bold"/>
            </a:endParaRPr>
          </a:p>
          <a:p>
            <a:pPr marL="345441" lvl="1">
              <a:lnSpc>
                <a:spcPts val="2000"/>
              </a:lnSpc>
              <a:tabLst>
                <a:tab pos="4030663" algn="l"/>
              </a:tabLst>
            </a:pPr>
            <a:r>
              <a:rPr lang="en-US" b="1" dirty="0">
                <a:solidFill>
                  <a:srgbClr val="C00000"/>
                </a:solidFill>
                <a:latin typeface="Canva Sans Bold"/>
                <a:ea typeface="Canva Sans Bold"/>
                <a:cs typeface="Canva Sans Bold"/>
                <a:sym typeface="Canva Sans Bold"/>
              </a:rPr>
              <a:t>. Side Feed Injector – SF                                 . Continuous Injection Injectors  </a:t>
            </a:r>
          </a:p>
          <a:p>
            <a:pPr marL="345441" lvl="1">
              <a:lnSpc>
                <a:spcPts val="2000"/>
              </a:lnSpc>
              <a:tabLst>
                <a:tab pos="4030663" algn="l"/>
              </a:tabLst>
            </a:pPr>
            <a:endParaRPr lang="en-US" b="1" dirty="0">
              <a:solidFill>
                <a:srgbClr val="C00000"/>
              </a:solidFill>
              <a:latin typeface="Canva Sans Bold"/>
              <a:ea typeface="Canva Sans Bold"/>
              <a:cs typeface="Canva Sans Bold"/>
              <a:sym typeface="Canva Sans Bold"/>
            </a:endParaRPr>
          </a:p>
          <a:p>
            <a:pPr marL="345441" lvl="1">
              <a:lnSpc>
                <a:spcPts val="2000"/>
              </a:lnSpc>
              <a:tabLst>
                <a:tab pos="4030663" algn="l"/>
              </a:tabLst>
            </a:pPr>
            <a:r>
              <a:rPr lang="en-US" b="1" dirty="0">
                <a:solidFill>
                  <a:srgbClr val="C00000"/>
                </a:solidFill>
                <a:latin typeface="Canva Sans Bold"/>
                <a:ea typeface="Canva Sans Bold"/>
                <a:cs typeface="Canva Sans Bold"/>
                <a:sym typeface="Canva Sans Bold"/>
              </a:rPr>
              <a:t>. K. Jetronic - MFI                                             . Alternative Fuel Injectors - LPG, CNG</a:t>
            </a:r>
          </a:p>
          <a:p>
            <a:pPr marL="345441" lvl="1">
              <a:lnSpc>
                <a:spcPts val="2000"/>
              </a:lnSpc>
              <a:tabLst>
                <a:tab pos="4030663" algn="l"/>
              </a:tabLst>
            </a:pPr>
            <a:endParaRPr lang="en-US" b="1" dirty="0">
              <a:solidFill>
                <a:srgbClr val="C00000"/>
              </a:solidFill>
              <a:latin typeface="Canva Sans Bold"/>
              <a:ea typeface="Canva Sans Bold"/>
              <a:cs typeface="Canva Sans Bold"/>
              <a:sym typeface="Canva Sans Bold"/>
            </a:endParaRPr>
          </a:p>
          <a:p>
            <a:pPr marL="345441" lvl="1">
              <a:lnSpc>
                <a:spcPts val="2000"/>
              </a:lnSpc>
              <a:tabLst>
                <a:tab pos="4030663" algn="l"/>
              </a:tabLst>
            </a:pPr>
            <a:r>
              <a:rPr lang="en-US" b="1" dirty="0">
                <a:solidFill>
                  <a:srgbClr val="C00000"/>
                </a:solidFill>
                <a:latin typeface="Canva Sans Bold"/>
                <a:ea typeface="Canva Sans Bold"/>
                <a:cs typeface="Canva Sans Bold"/>
                <a:sym typeface="Canva Sans Bold"/>
              </a:rPr>
              <a:t>. Racing Application Injectors                         . Motorcycle Application Injectors</a:t>
            </a:r>
          </a:p>
        </p:txBody>
      </p:sp>
      <p:sp>
        <p:nvSpPr>
          <p:cNvPr id="3" name="TextBox 2">
            <a:extLst>
              <a:ext uri="{FF2B5EF4-FFF2-40B4-BE49-F238E27FC236}">
                <a16:creationId xmlns:a16="http://schemas.microsoft.com/office/drawing/2014/main" id="{5FA0E94F-33E3-45B6-A010-578DD3AC394C}"/>
              </a:ext>
            </a:extLst>
          </p:cNvPr>
          <p:cNvSpPr txBox="1"/>
          <p:nvPr/>
        </p:nvSpPr>
        <p:spPr>
          <a:xfrm>
            <a:off x="2043791" y="1028700"/>
            <a:ext cx="7347859" cy="4001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2000" dirty="0"/>
              <a:t>We Service All types of Petrol / Gasoline fuel Injectors </a:t>
            </a:r>
            <a:endParaRPr lang="en-IN" sz="2000" dirty="0"/>
          </a:p>
        </p:txBody>
      </p:sp>
      <p:pic>
        <p:nvPicPr>
          <p:cNvPr id="4" name="Picture 3">
            <a:extLst>
              <a:ext uri="{FF2B5EF4-FFF2-40B4-BE49-F238E27FC236}">
                <a16:creationId xmlns:a16="http://schemas.microsoft.com/office/drawing/2014/main" id="{ECD51FA6-1239-45ED-9055-9E341C8328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711631">
            <a:off x="984115" y="369831"/>
            <a:ext cx="1089488" cy="1120697"/>
          </a:xfrm>
          <a:prstGeom prst="rect">
            <a:avLst/>
          </a:prstGeom>
        </p:spPr>
      </p:pic>
      <p:sp>
        <p:nvSpPr>
          <p:cNvPr id="5" name="Rectangle 4">
            <a:extLst>
              <a:ext uri="{FF2B5EF4-FFF2-40B4-BE49-F238E27FC236}">
                <a16:creationId xmlns:a16="http://schemas.microsoft.com/office/drawing/2014/main" id="{57A9FD72-352F-4722-BE4F-E6340E246645}"/>
              </a:ext>
            </a:extLst>
          </p:cNvPr>
          <p:cNvSpPr/>
          <p:nvPr/>
        </p:nvSpPr>
        <p:spPr>
          <a:xfrm>
            <a:off x="1109558" y="4602421"/>
            <a:ext cx="9814650" cy="138504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9E991D0C-2F7F-45C7-8001-0AF6AEF0A47D}"/>
              </a:ext>
            </a:extLst>
          </p:cNvPr>
          <p:cNvSpPr txBox="1"/>
          <p:nvPr/>
        </p:nvSpPr>
        <p:spPr>
          <a:xfrm>
            <a:off x="1267792" y="4552533"/>
            <a:ext cx="2138082" cy="1600438"/>
          </a:xfrm>
          <a:prstGeom prst="rect">
            <a:avLst/>
          </a:prstGeom>
          <a:noFill/>
        </p:spPr>
        <p:txBody>
          <a:bodyPr wrap="square" rtlCol="0">
            <a:spAutoFit/>
          </a:bodyPr>
          <a:lstStyle/>
          <a:p>
            <a:r>
              <a:rPr lang="en-US" sz="1400" dirty="0"/>
              <a:t>Address</a:t>
            </a:r>
          </a:p>
          <a:p>
            <a:r>
              <a:rPr lang="en-US" sz="1400" dirty="0"/>
              <a:t>Contact No.:</a:t>
            </a:r>
          </a:p>
          <a:p>
            <a:r>
              <a:rPr lang="en-US" sz="1400" dirty="0"/>
              <a:t>Email ID</a:t>
            </a:r>
          </a:p>
          <a:p>
            <a:r>
              <a:rPr lang="en-US" sz="1400" dirty="0"/>
              <a:t>Facebook</a:t>
            </a:r>
          </a:p>
          <a:p>
            <a:r>
              <a:rPr lang="en-US" sz="1400" dirty="0"/>
              <a:t>Instagram</a:t>
            </a:r>
          </a:p>
          <a:p>
            <a:r>
              <a:rPr lang="en-US" sz="1400" dirty="0"/>
              <a:t>website</a:t>
            </a:r>
          </a:p>
          <a:p>
            <a:endParaRPr lang="en-US" sz="1400" dirty="0"/>
          </a:p>
        </p:txBody>
      </p:sp>
      <p:sp>
        <p:nvSpPr>
          <p:cNvPr id="7" name="TextBox 6">
            <a:extLst>
              <a:ext uri="{FF2B5EF4-FFF2-40B4-BE49-F238E27FC236}">
                <a16:creationId xmlns:a16="http://schemas.microsoft.com/office/drawing/2014/main" id="{C9B41482-863F-4638-816E-65EC48DA39A3}"/>
              </a:ext>
            </a:extLst>
          </p:cNvPr>
          <p:cNvSpPr txBox="1"/>
          <p:nvPr/>
        </p:nvSpPr>
        <p:spPr>
          <a:xfrm>
            <a:off x="1311122" y="6178837"/>
            <a:ext cx="6370320" cy="369332"/>
          </a:xfrm>
          <a:prstGeom prst="rect">
            <a:avLst/>
          </a:prstGeom>
          <a:noFill/>
        </p:spPr>
        <p:txBody>
          <a:bodyPr wrap="square" rtlCol="0">
            <a:spAutoFit/>
          </a:bodyPr>
          <a:lstStyle/>
          <a:p>
            <a:r>
              <a:rPr lang="en-US" dirty="0"/>
              <a:t>NOTE : Home page details. Search is on for better Product images  </a:t>
            </a:r>
            <a:endParaRPr lang="en-IN" dirty="0"/>
          </a:p>
        </p:txBody>
      </p:sp>
    </p:spTree>
    <p:extLst>
      <p:ext uri="{BB962C8B-B14F-4D97-AF65-F5344CB8AC3E}">
        <p14:creationId xmlns:p14="http://schemas.microsoft.com/office/powerpoint/2010/main" val="405681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ABF8324-844E-46F1-ABDD-DCDE6B5B4CDF}"/>
              </a:ext>
            </a:extLst>
          </p:cNvPr>
          <p:cNvPicPr>
            <a:picLocks noChangeAspect="1"/>
          </p:cNvPicPr>
          <p:nvPr/>
        </p:nvPicPr>
        <p:blipFill>
          <a:blip r:embed="rId2"/>
          <a:stretch>
            <a:fillRect/>
          </a:stretch>
        </p:blipFill>
        <p:spPr>
          <a:xfrm>
            <a:off x="9178373" y="-14571"/>
            <a:ext cx="3013627" cy="2163553"/>
          </a:xfrm>
          <a:prstGeom prst="rect">
            <a:avLst/>
          </a:prstGeom>
        </p:spPr>
      </p:pic>
      <p:sp>
        <p:nvSpPr>
          <p:cNvPr id="2" name="TextBox 1">
            <a:extLst>
              <a:ext uri="{FF2B5EF4-FFF2-40B4-BE49-F238E27FC236}">
                <a16:creationId xmlns:a16="http://schemas.microsoft.com/office/drawing/2014/main" id="{92BD707C-A197-442E-91F9-04F4BF68CC36}"/>
              </a:ext>
            </a:extLst>
          </p:cNvPr>
          <p:cNvSpPr txBox="1"/>
          <p:nvPr/>
        </p:nvSpPr>
        <p:spPr>
          <a:xfrm>
            <a:off x="448474" y="1472434"/>
            <a:ext cx="9693662" cy="3231654"/>
          </a:xfrm>
          <a:prstGeom prst="rect">
            <a:avLst/>
          </a:prstGeom>
          <a:noFill/>
          <a:ln w="28575">
            <a:noFill/>
          </a:ln>
        </p:spPr>
        <p:txBody>
          <a:bodyPr wrap="square" rtlCol="0">
            <a:spAutoFit/>
          </a:bodyPr>
          <a:lstStyle/>
          <a:p>
            <a:pPr>
              <a:tabLst>
                <a:tab pos="177800" algn="l"/>
              </a:tabLst>
            </a:pPr>
            <a:r>
              <a:rPr lang="en-US" sz="1600" dirty="0"/>
              <a:t> </a:t>
            </a:r>
            <a:r>
              <a:rPr lang="en-US" sz="1400" dirty="0"/>
              <a:t>-  </a:t>
            </a:r>
            <a:r>
              <a:rPr lang="en-US" dirty="0"/>
              <a:t>We at Regent Fuel Injectors specializes in diagnostic testing, cleaning and servicing of all types of    </a:t>
            </a:r>
          </a:p>
          <a:p>
            <a:pPr>
              <a:tabLst>
                <a:tab pos="177800" algn="l"/>
              </a:tabLst>
            </a:pPr>
            <a:r>
              <a:rPr lang="en-US" dirty="0"/>
              <a:t>petrol and gasoline  fuel  injectors </a:t>
            </a:r>
            <a:r>
              <a:rPr lang="en-US" dirty="0">
                <a:solidFill>
                  <a:srgbClr val="0070C0"/>
                </a:solidFill>
              </a:rPr>
              <a:t>by experienced engineer and technicians./</a:t>
            </a:r>
            <a:r>
              <a:rPr lang="en-US" b="0" i="0" dirty="0">
                <a:solidFill>
                  <a:srgbClr val="0070C0"/>
                </a:solidFill>
                <a:effectLst/>
              </a:rPr>
              <a:t>technical accuracy with a </a:t>
            </a:r>
            <a:r>
              <a:rPr lang="en-US" i="0" dirty="0">
                <a:solidFill>
                  <a:srgbClr val="0070C0"/>
                </a:solidFill>
                <a:effectLst/>
              </a:rPr>
              <a:t>customer-focused</a:t>
            </a:r>
            <a:r>
              <a:rPr lang="en-US" b="0" i="0" dirty="0">
                <a:solidFill>
                  <a:srgbClr val="0070C0"/>
                </a:solidFill>
                <a:effectLst/>
              </a:rPr>
              <a:t> approach.</a:t>
            </a:r>
          </a:p>
          <a:p>
            <a:pPr>
              <a:tabLst>
                <a:tab pos="177800" algn="l"/>
              </a:tabLst>
            </a:pPr>
            <a:endParaRPr lang="en-IN" dirty="0">
              <a:solidFill>
                <a:srgbClr val="0070C0"/>
              </a:solidFill>
            </a:endParaRPr>
          </a:p>
          <a:p>
            <a:pPr>
              <a:tabLst>
                <a:tab pos="177800" algn="l"/>
              </a:tabLst>
            </a:pPr>
            <a:r>
              <a:rPr lang="en-US" dirty="0"/>
              <a:t> -  Using the state-of-the-art diagnostic test benches and ultrasonic cleaning equipment's we restore injectors to its best condition, hence improving engine efficiency and performance.</a:t>
            </a:r>
          </a:p>
          <a:p>
            <a:pPr>
              <a:tabLst>
                <a:tab pos="177800" algn="l"/>
              </a:tabLst>
            </a:pPr>
            <a:endParaRPr lang="en-US" dirty="0"/>
          </a:p>
          <a:p>
            <a:pPr>
              <a:tabLst>
                <a:tab pos="177800" algn="l"/>
              </a:tabLst>
            </a:pPr>
            <a:r>
              <a:rPr lang="en-US" dirty="0"/>
              <a:t> -  Equipment's used at Regent Fuel Injectors for testing are approved by world-wide leading vehicle manufacturer and  injector manufacturers such as </a:t>
            </a:r>
            <a:r>
              <a:rPr lang="en-US" b="1" dirty="0"/>
              <a:t>BOSCH GmbH, Delphi and Magneti Marelli etc. </a:t>
            </a:r>
            <a:r>
              <a:rPr lang="en-US" dirty="0"/>
              <a:t>allowing us to perform precise and efficient diagnostics on all types of fuel injectors. </a:t>
            </a:r>
          </a:p>
          <a:p>
            <a:pPr>
              <a:tabLst>
                <a:tab pos="177800" algn="l"/>
              </a:tabLst>
            </a:pPr>
            <a:endParaRPr lang="en-US" sz="1200" dirty="0"/>
          </a:p>
          <a:p>
            <a:pPr>
              <a:tabLst>
                <a:tab pos="177800" algn="l"/>
              </a:tabLst>
            </a:pPr>
            <a:r>
              <a:rPr kumimoji="0" lang="en-US" altLang="en-US" sz="1200" b="0" i="0" u="none" strike="noStrike" cap="none" normalizeH="0" baseline="0" dirty="0">
                <a:ln>
                  <a:noFill/>
                </a:ln>
                <a:solidFill>
                  <a:schemeClr val="tx1"/>
                </a:solidFill>
                <a:effectLst/>
                <a:latin typeface="Google Sans"/>
              </a:rPr>
              <a:t>  </a:t>
            </a:r>
            <a:endParaRPr lang="en-US" sz="1200" strike="sngStrike" dirty="0">
              <a:solidFill>
                <a:srgbClr val="0A0A0A"/>
              </a:solidFill>
              <a:latin typeface="Google Sans"/>
            </a:endParaRPr>
          </a:p>
        </p:txBody>
      </p:sp>
      <p:sp>
        <p:nvSpPr>
          <p:cNvPr id="4" name="TextBox 3">
            <a:extLst>
              <a:ext uri="{FF2B5EF4-FFF2-40B4-BE49-F238E27FC236}">
                <a16:creationId xmlns:a16="http://schemas.microsoft.com/office/drawing/2014/main" id="{A1C930CC-F04B-47C2-B418-05F29DD75782}"/>
              </a:ext>
            </a:extLst>
          </p:cNvPr>
          <p:cNvSpPr txBox="1"/>
          <p:nvPr/>
        </p:nvSpPr>
        <p:spPr>
          <a:xfrm>
            <a:off x="727568" y="802692"/>
            <a:ext cx="2827175" cy="373224"/>
          </a:xfrm>
          <a:prstGeom prst="rect">
            <a:avLst/>
          </a:prstGeom>
          <a:noFill/>
        </p:spPr>
        <p:txBody>
          <a:bodyPr wrap="square" rtlCol="0">
            <a:spAutoFit/>
          </a:bodyPr>
          <a:lstStyle/>
          <a:p>
            <a:r>
              <a:rPr lang="en-US" b="1" i="1" u="sng" dirty="0"/>
              <a:t>Our Service</a:t>
            </a:r>
            <a:endParaRPr lang="en-IN" b="1" i="1" u="sng" dirty="0"/>
          </a:p>
        </p:txBody>
      </p:sp>
      <p:sp>
        <p:nvSpPr>
          <p:cNvPr id="7" name="TextBox 6">
            <a:extLst>
              <a:ext uri="{FF2B5EF4-FFF2-40B4-BE49-F238E27FC236}">
                <a16:creationId xmlns:a16="http://schemas.microsoft.com/office/drawing/2014/main" id="{B8D21E26-C233-44CE-B973-943766ED03C4}"/>
              </a:ext>
            </a:extLst>
          </p:cNvPr>
          <p:cNvSpPr txBox="1"/>
          <p:nvPr/>
        </p:nvSpPr>
        <p:spPr>
          <a:xfrm>
            <a:off x="567147" y="4923901"/>
            <a:ext cx="9693662"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a:rPr>
              <a:t>The restorative procedure for fuel injectors utilizes a multi-stage process that includes precise flow testing and ultrasonic cavitation. This method is significantly more technical and more effective than simple solvent-based cleaning.</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4850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96FD94A-8DA2-4C2B-8305-9708B7DE9582}"/>
              </a:ext>
            </a:extLst>
          </p:cNvPr>
          <p:cNvSpPr/>
          <p:nvPr/>
        </p:nvSpPr>
        <p:spPr>
          <a:xfrm>
            <a:off x="1320322" y="2261814"/>
            <a:ext cx="8244027" cy="188350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tabLst>
                <a:tab pos="85725" algn="l"/>
              </a:tabLst>
            </a:pPr>
            <a:r>
              <a:rPr lang="en-IN" sz="1200" b="1" dirty="0">
                <a:solidFill>
                  <a:schemeClr val="accent3">
                    <a:lumMod val="75000"/>
                  </a:schemeClr>
                </a:solidFill>
                <a:latin typeface="Montserrat" panose="00000500000000000000" pitchFamily="2" charset="0"/>
              </a:rPr>
              <a:t>        </a:t>
            </a:r>
          </a:p>
          <a:p>
            <a:r>
              <a:rPr lang="en-IN" b="1" dirty="0">
                <a:solidFill>
                  <a:schemeClr val="accent3">
                    <a:lumMod val="75000"/>
                  </a:schemeClr>
                </a:solidFill>
                <a:latin typeface="Montserrat" panose="00000500000000000000" pitchFamily="2" charset="0"/>
              </a:rPr>
              <a:t>  </a:t>
            </a:r>
            <a:r>
              <a:rPr lang="en-IN" b="1" strike="sngStrike" dirty="0">
                <a:solidFill>
                  <a:schemeClr val="accent3">
                    <a:lumMod val="75000"/>
                  </a:schemeClr>
                </a:solidFill>
                <a:latin typeface="Montserrat" panose="00000500000000000000" pitchFamily="2" charset="0"/>
              </a:rPr>
              <a:t>We are committed to give best results </a:t>
            </a:r>
          </a:p>
          <a:p>
            <a:endParaRPr lang="en-IN" sz="1200" b="1" dirty="0">
              <a:solidFill>
                <a:schemeClr val="accent3">
                  <a:lumMod val="75000"/>
                </a:schemeClr>
              </a:solidFill>
              <a:latin typeface="Montserrat" panose="00000500000000000000" pitchFamily="2" charset="0"/>
            </a:endParaRPr>
          </a:p>
          <a:p>
            <a:pPr marL="171450" indent="-171450">
              <a:buFontTx/>
              <a:buChar char="-"/>
            </a:pPr>
            <a:r>
              <a:rPr lang="en-IN" sz="1100" b="1" i="0" dirty="0">
                <a:solidFill>
                  <a:schemeClr val="accent3">
                    <a:lumMod val="75000"/>
                  </a:schemeClr>
                </a:solidFill>
                <a:effectLst/>
                <a:latin typeface="Montserrat" panose="00000500000000000000" pitchFamily="2" charset="0"/>
              </a:rPr>
              <a:t>Better Fuel Efficiency</a:t>
            </a:r>
            <a:r>
              <a:rPr lang="en-IN" sz="1100" b="0" i="0" dirty="0">
                <a:solidFill>
                  <a:schemeClr val="accent3">
                    <a:lumMod val="75000"/>
                  </a:schemeClr>
                </a:solidFill>
                <a:effectLst/>
                <a:latin typeface="Montserrat" panose="00000500000000000000" pitchFamily="2" charset="0"/>
              </a:rPr>
              <a:t> – Improve gas mileage and reduce fuel consumption.</a:t>
            </a:r>
          </a:p>
          <a:p>
            <a:pPr marL="171450" indent="-171450">
              <a:buFontTx/>
              <a:buChar char="-"/>
            </a:pPr>
            <a:endParaRPr lang="en-IN" sz="1100" b="0" i="0" dirty="0">
              <a:solidFill>
                <a:schemeClr val="accent3">
                  <a:lumMod val="75000"/>
                </a:schemeClr>
              </a:solidFill>
              <a:effectLst/>
              <a:latin typeface="Montserrat" panose="00000500000000000000" pitchFamily="2" charset="0"/>
            </a:endParaRPr>
          </a:p>
          <a:p>
            <a:pPr marL="171450" indent="-171450">
              <a:buFontTx/>
              <a:buChar char="-"/>
            </a:pPr>
            <a:r>
              <a:rPr lang="en-IN" sz="1100" b="1" i="0" dirty="0">
                <a:solidFill>
                  <a:schemeClr val="accent3">
                    <a:lumMod val="75000"/>
                  </a:schemeClr>
                </a:solidFill>
                <a:effectLst/>
                <a:latin typeface="Montserrat" panose="00000500000000000000" pitchFamily="2" charset="0"/>
              </a:rPr>
              <a:t>Smoother Acceleration</a:t>
            </a:r>
            <a:r>
              <a:rPr lang="en-IN" sz="1100" b="0" i="0" dirty="0">
                <a:solidFill>
                  <a:schemeClr val="accent3">
                    <a:lumMod val="75000"/>
                  </a:schemeClr>
                </a:solidFill>
                <a:effectLst/>
                <a:latin typeface="Montserrat" panose="00000500000000000000" pitchFamily="2" charset="0"/>
              </a:rPr>
              <a:t> – Eliminate hesitation and engine misfires.</a:t>
            </a:r>
          </a:p>
          <a:p>
            <a:br>
              <a:rPr lang="en-IN" sz="1100" dirty="0">
                <a:solidFill>
                  <a:schemeClr val="accent3">
                    <a:lumMod val="75000"/>
                  </a:schemeClr>
                </a:solidFill>
              </a:rPr>
            </a:br>
            <a:r>
              <a:rPr lang="en-IN" sz="1100" b="1" dirty="0">
                <a:solidFill>
                  <a:schemeClr val="accent3">
                    <a:lumMod val="75000"/>
                  </a:schemeClr>
                </a:solidFill>
                <a:latin typeface="Montserrat" panose="00000500000000000000" pitchFamily="2" charset="0"/>
              </a:rPr>
              <a:t>-   </a:t>
            </a:r>
            <a:r>
              <a:rPr lang="en-IN" sz="1100" b="1" i="0" dirty="0">
                <a:solidFill>
                  <a:schemeClr val="accent3">
                    <a:lumMod val="75000"/>
                  </a:schemeClr>
                </a:solidFill>
                <a:effectLst/>
                <a:latin typeface="Montserrat" panose="00000500000000000000" pitchFamily="2" charset="0"/>
              </a:rPr>
              <a:t>Lower Emissions</a:t>
            </a:r>
            <a:r>
              <a:rPr lang="en-IN" sz="1100" b="0" i="0" dirty="0">
                <a:solidFill>
                  <a:schemeClr val="accent3">
                    <a:lumMod val="75000"/>
                  </a:schemeClr>
                </a:solidFill>
                <a:effectLst/>
                <a:latin typeface="Montserrat" panose="00000500000000000000" pitchFamily="2" charset="0"/>
              </a:rPr>
              <a:t> – Reduce harmful pollutants for a cleaner-running engine.</a:t>
            </a:r>
          </a:p>
          <a:p>
            <a:pPr>
              <a:tabLst>
                <a:tab pos="179388" algn="l"/>
                <a:tab pos="265113" algn="l"/>
              </a:tabLst>
            </a:pPr>
            <a:br>
              <a:rPr lang="en-IN" sz="1100" dirty="0">
                <a:solidFill>
                  <a:schemeClr val="accent3">
                    <a:lumMod val="75000"/>
                  </a:schemeClr>
                </a:solidFill>
              </a:rPr>
            </a:br>
            <a:r>
              <a:rPr lang="en-IN" sz="1100" b="1" dirty="0">
                <a:solidFill>
                  <a:schemeClr val="accent3">
                    <a:lumMod val="75000"/>
                  </a:schemeClr>
                </a:solidFill>
                <a:latin typeface="Montserrat" panose="00000500000000000000" pitchFamily="2" charset="0"/>
              </a:rPr>
              <a:t>-</a:t>
            </a:r>
            <a:r>
              <a:rPr lang="en-IN" sz="1100" dirty="0">
                <a:solidFill>
                  <a:schemeClr val="accent3">
                    <a:lumMod val="75000"/>
                  </a:schemeClr>
                </a:solidFill>
                <a:latin typeface="Montserrat" panose="00000500000000000000" pitchFamily="2" charset="0"/>
              </a:rPr>
              <a:t>   </a:t>
            </a:r>
            <a:r>
              <a:rPr lang="en-IN" sz="1100" b="1" i="0" dirty="0">
                <a:solidFill>
                  <a:schemeClr val="accent3">
                    <a:lumMod val="75000"/>
                  </a:schemeClr>
                </a:solidFill>
                <a:effectLst/>
                <a:latin typeface="Montserrat" panose="00000500000000000000" pitchFamily="2" charset="0"/>
              </a:rPr>
              <a:t>Prevents Costly Repairs</a:t>
            </a:r>
            <a:r>
              <a:rPr lang="en-IN" sz="1100" b="0" i="0" dirty="0">
                <a:solidFill>
                  <a:schemeClr val="accent3">
                    <a:lumMod val="75000"/>
                  </a:schemeClr>
                </a:solidFill>
                <a:effectLst/>
                <a:latin typeface="Montserrat" panose="00000500000000000000" pitchFamily="2" charset="0"/>
              </a:rPr>
              <a:t> – Extend engine life and avoid expensive replacements</a:t>
            </a:r>
            <a:r>
              <a:rPr lang="en-IN" sz="1200" b="0" i="0" dirty="0">
                <a:solidFill>
                  <a:schemeClr val="accent3">
                    <a:lumMod val="75000"/>
                  </a:schemeClr>
                </a:solidFill>
                <a:effectLst/>
                <a:latin typeface="Montserrat" panose="00000500000000000000" pitchFamily="2" charset="0"/>
              </a:rPr>
              <a:t>.</a:t>
            </a:r>
          </a:p>
          <a:p>
            <a:pPr marL="171450" indent="-171450">
              <a:buFontTx/>
              <a:buChar char="-"/>
            </a:pPr>
            <a:endParaRPr lang="en-IN" sz="1200" b="1" spc="50" dirty="0">
              <a:ln w="0"/>
              <a:solidFill>
                <a:schemeClr val="accent3">
                  <a:lumMod val="75000"/>
                </a:schemeClr>
              </a:solidFill>
              <a:effectLst>
                <a:innerShdw blurRad="63500" dist="50800" dir="13500000">
                  <a:srgbClr val="000000">
                    <a:alpha val="50000"/>
                  </a:srgbClr>
                </a:innerShdw>
              </a:effectLst>
            </a:endParaRPr>
          </a:p>
        </p:txBody>
      </p:sp>
      <p:pic>
        <p:nvPicPr>
          <p:cNvPr id="8" name="Picture 7">
            <a:extLst>
              <a:ext uri="{FF2B5EF4-FFF2-40B4-BE49-F238E27FC236}">
                <a16:creationId xmlns:a16="http://schemas.microsoft.com/office/drawing/2014/main" id="{9440C350-B483-4D2D-AE70-1B820500BC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823119">
            <a:off x="7256804" y="2510992"/>
            <a:ext cx="2102638" cy="1385151"/>
          </a:xfrm>
          <a:prstGeom prst="rect">
            <a:avLst/>
          </a:prstGeom>
          <a:ln>
            <a:noFill/>
          </a:ln>
          <a:effectLst>
            <a:outerShdw blurRad="190500" algn="tl" rotWithShape="0">
              <a:srgbClr val="000000">
                <a:alpha val="70000"/>
              </a:srgbClr>
            </a:outerShdw>
          </a:effectLst>
        </p:spPr>
      </p:pic>
      <p:sp>
        <p:nvSpPr>
          <p:cNvPr id="22" name="TextBox 21">
            <a:extLst>
              <a:ext uri="{FF2B5EF4-FFF2-40B4-BE49-F238E27FC236}">
                <a16:creationId xmlns:a16="http://schemas.microsoft.com/office/drawing/2014/main" id="{91853282-11B4-4B3B-85F7-9E8A6EA35C1A}"/>
              </a:ext>
            </a:extLst>
          </p:cNvPr>
          <p:cNvSpPr txBox="1"/>
          <p:nvPr/>
        </p:nvSpPr>
        <p:spPr>
          <a:xfrm>
            <a:off x="1133232" y="467770"/>
            <a:ext cx="9308123" cy="1600438"/>
          </a:xfrm>
          <a:prstGeom prst="rect">
            <a:avLst/>
          </a:prstGeom>
          <a:noFill/>
        </p:spPr>
        <p:txBody>
          <a:bodyPr wrap="square">
            <a:spAutoFit/>
          </a:bodyPr>
          <a:lstStyle/>
          <a:p>
            <a:r>
              <a:rPr lang="en-US" sz="1400" dirty="0"/>
              <a:t>At Regent Fuel Injector, every injector undergoes a precise, a thorough diagnostic and restoration process to meet OEM specifications. The procedure begins with pre-cleaning diagnostics to assess static and dynamic flow rate, spray pattern geometry, leak integrity, and electrical performance. This is followed by a intense three-stage ultrasonic cleaning process, enhanced by synchronized electronic pulsing to remove both internal and external deposits. After cleaning, each injector is re-tested on a calibrated test bench to verify flow balance, atomization quality, and pressure integrity. New filter baskets and seals are then installed to ensure proper sealing to prevent contamination. This comprehensive process guarantees that every injector performs consistently, efficiently, and reliably — restoring engines to their peak performance.</a:t>
            </a:r>
          </a:p>
        </p:txBody>
      </p:sp>
      <p:grpSp>
        <p:nvGrpSpPr>
          <p:cNvPr id="6" name="Group 5">
            <a:extLst>
              <a:ext uri="{FF2B5EF4-FFF2-40B4-BE49-F238E27FC236}">
                <a16:creationId xmlns:a16="http://schemas.microsoft.com/office/drawing/2014/main" id="{96EA9743-79F5-4F94-BE01-5ED6E1FD3802}"/>
              </a:ext>
            </a:extLst>
          </p:cNvPr>
          <p:cNvGrpSpPr/>
          <p:nvPr/>
        </p:nvGrpSpPr>
        <p:grpSpPr>
          <a:xfrm>
            <a:off x="6304310" y="4789793"/>
            <a:ext cx="5322043" cy="1857375"/>
            <a:chOff x="6136359" y="3282177"/>
            <a:chExt cx="5322043" cy="1857375"/>
          </a:xfrm>
        </p:grpSpPr>
        <p:pic>
          <p:nvPicPr>
            <p:cNvPr id="7" name="Picture 6">
              <a:extLst>
                <a:ext uri="{FF2B5EF4-FFF2-40B4-BE49-F238E27FC236}">
                  <a16:creationId xmlns:a16="http://schemas.microsoft.com/office/drawing/2014/main" id="{5C694A6D-5326-4F94-A7F4-EB21DC0CE0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6359" y="3282177"/>
              <a:ext cx="1684148" cy="1857375"/>
            </a:xfrm>
            <a:prstGeom prst="rect">
              <a:avLst/>
            </a:prstGeom>
          </p:spPr>
        </p:pic>
        <p:pic>
          <p:nvPicPr>
            <p:cNvPr id="9" name="Picture 8">
              <a:extLst>
                <a:ext uri="{FF2B5EF4-FFF2-40B4-BE49-F238E27FC236}">
                  <a16:creationId xmlns:a16="http://schemas.microsoft.com/office/drawing/2014/main" id="{A1E42E41-B2DA-4F73-8227-AAAAEDE53A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0507" y="3282710"/>
              <a:ext cx="3637895" cy="1856842"/>
            </a:xfrm>
            <a:prstGeom prst="rect">
              <a:avLst/>
            </a:prstGeom>
          </p:spPr>
        </p:pic>
      </p:grpSp>
      <p:grpSp>
        <p:nvGrpSpPr>
          <p:cNvPr id="10" name="Group 9">
            <a:extLst>
              <a:ext uri="{FF2B5EF4-FFF2-40B4-BE49-F238E27FC236}">
                <a16:creationId xmlns:a16="http://schemas.microsoft.com/office/drawing/2014/main" id="{EBEF55DE-2BBB-49A2-BB8A-1835BE35EE63}"/>
              </a:ext>
            </a:extLst>
          </p:cNvPr>
          <p:cNvGrpSpPr/>
          <p:nvPr/>
        </p:nvGrpSpPr>
        <p:grpSpPr>
          <a:xfrm>
            <a:off x="1320321" y="4789793"/>
            <a:ext cx="4552950" cy="1857376"/>
            <a:chOff x="1152370" y="3282177"/>
            <a:chExt cx="4552950" cy="1857376"/>
          </a:xfrm>
        </p:grpSpPr>
        <p:pic>
          <p:nvPicPr>
            <p:cNvPr id="11" name="Picture 10">
              <a:extLst>
                <a:ext uri="{FF2B5EF4-FFF2-40B4-BE49-F238E27FC236}">
                  <a16:creationId xmlns:a16="http://schemas.microsoft.com/office/drawing/2014/main" id="{2E355707-2323-4E08-9BCC-224A9C55B8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2370" y="3282178"/>
              <a:ext cx="1400175" cy="1857375"/>
            </a:xfrm>
            <a:prstGeom prst="rect">
              <a:avLst/>
            </a:prstGeom>
          </p:spPr>
        </p:pic>
        <p:pic>
          <p:nvPicPr>
            <p:cNvPr id="12" name="Picture 11">
              <a:extLst>
                <a:ext uri="{FF2B5EF4-FFF2-40B4-BE49-F238E27FC236}">
                  <a16:creationId xmlns:a16="http://schemas.microsoft.com/office/drawing/2014/main" id="{4AE7EF18-E6CE-42BC-99BF-F21E135018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52545" y="3282177"/>
              <a:ext cx="3152775" cy="1857375"/>
            </a:xfrm>
            <a:prstGeom prst="rect">
              <a:avLst/>
            </a:prstGeom>
          </p:spPr>
        </p:pic>
      </p:grpSp>
      <p:sp>
        <p:nvSpPr>
          <p:cNvPr id="13" name="TextBox 12">
            <a:extLst>
              <a:ext uri="{FF2B5EF4-FFF2-40B4-BE49-F238E27FC236}">
                <a16:creationId xmlns:a16="http://schemas.microsoft.com/office/drawing/2014/main" id="{7BEEFD15-4165-419B-B018-E9D14B3220B5}"/>
              </a:ext>
            </a:extLst>
          </p:cNvPr>
          <p:cNvSpPr txBox="1"/>
          <p:nvPr/>
        </p:nvSpPr>
        <p:spPr>
          <a:xfrm>
            <a:off x="2291237" y="4420461"/>
            <a:ext cx="1698188" cy="369332"/>
          </a:xfrm>
          <a:prstGeom prst="rect">
            <a:avLst/>
          </a:prstGeom>
          <a:noFill/>
        </p:spPr>
        <p:txBody>
          <a:bodyPr wrap="square" rtlCol="0">
            <a:spAutoFit/>
          </a:bodyPr>
          <a:lstStyle/>
          <a:p>
            <a:r>
              <a:rPr lang="en-US" dirty="0">
                <a:solidFill>
                  <a:srgbClr val="00B050"/>
                </a:solidFill>
              </a:rPr>
              <a:t>Before Cleaning </a:t>
            </a:r>
            <a:endParaRPr lang="en-IN" dirty="0">
              <a:solidFill>
                <a:srgbClr val="00B050"/>
              </a:solidFill>
            </a:endParaRPr>
          </a:p>
        </p:txBody>
      </p:sp>
      <p:sp>
        <p:nvSpPr>
          <p:cNvPr id="14" name="TextBox 13">
            <a:extLst>
              <a:ext uri="{FF2B5EF4-FFF2-40B4-BE49-F238E27FC236}">
                <a16:creationId xmlns:a16="http://schemas.microsoft.com/office/drawing/2014/main" id="{41E94C63-9454-44E5-8968-EAF16782591B}"/>
              </a:ext>
            </a:extLst>
          </p:cNvPr>
          <p:cNvSpPr txBox="1"/>
          <p:nvPr/>
        </p:nvSpPr>
        <p:spPr>
          <a:xfrm>
            <a:off x="8105135" y="4379695"/>
            <a:ext cx="1699027" cy="369332"/>
          </a:xfrm>
          <a:prstGeom prst="rect">
            <a:avLst/>
          </a:prstGeom>
          <a:noFill/>
        </p:spPr>
        <p:txBody>
          <a:bodyPr wrap="square" rtlCol="0">
            <a:spAutoFit/>
          </a:bodyPr>
          <a:lstStyle/>
          <a:p>
            <a:r>
              <a:rPr lang="en-US" dirty="0">
                <a:solidFill>
                  <a:srgbClr val="00B050"/>
                </a:solidFill>
              </a:rPr>
              <a:t>After Cleaning </a:t>
            </a:r>
            <a:endParaRPr lang="en-IN" dirty="0">
              <a:solidFill>
                <a:srgbClr val="00B050"/>
              </a:solidFill>
            </a:endParaRPr>
          </a:p>
        </p:txBody>
      </p:sp>
      <p:sp>
        <p:nvSpPr>
          <p:cNvPr id="2" name="TextBox 1">
            <a:extLst>
              <a:ext uri="{FF2B5EF4-FFF2-40B4-BE49-F238E27FC236}">
                <a16:creationId xmlns:a16="http://schemas.microsoft.com/office/drawing/2014/main" id="{9DB88DE3-FDB3-4C5F-AEF2-711E487E18B2}"/>
              </a:ext>
            </a:extLst>
          </p:cNvPr>
          <p:cNvSpPr txBox="1"/>
          <p:nvPr/>
        </p:nvSpPr>
        <p:spPr>
          <a:xfrm>
            <a:off x="1235413" y="98436"/>
            <a:ext cx="2754012" cy="369332"/>
          </a:xfrm>
          <a:prstGeom prst="rect">
            <a:avLst/>
          </a:prstGeom>
          <a:noFill/>
        </p:spPr>
        <p:txBody>
          <a:bodyPr wrap="square" rtlCol="0">
            <a:spAutoFit/>
          </a:bodyPr>
          <a:lstStyle/>
          <a:p>
            <a:r>
              <a:rPr lang="en-US" dirty="0"/>
              <a:t>Our Service </a:t>
            </a:r>
            <a:endParaRPr lang="en-IN" dirty="0"/>
          </a:p>
        </p:txBody>
      </p:sp>
    </p:spTree>
    <p:extLst>
      <p:ext uri="{BB962C8B-B14F-4D97-AF65-F5344CB8AC3E}">
        <p14:creationId xmlns:p14="http://schemas.microsoft.com/office/powerpoint/2010/main" val="3494052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B6ABC1-B0DF-40E2-9110-C8AAA6475E0B}"/>
              </a:ext>
            </a:extLst>
          </p:cNvPr>
          <p:cNvSpPr txBox="1"/>
          <p:nvPr/>
        </p:nvSpPr>
        <p:spPr>
          <a:xfrm>
            <a:off x="706794" y="217652"/>
            <a:ext cx="10321990" cy="5544338"/>
          </a:xfrm>
          <a:prstGeom prst="rect">
            <a:avLst/>
          </a:prstGeom>
          <a:noFill/>
        </p:spPr>
        <p:txBody>
          <a:bodyPr wrap="square">
            <a:spAutoFit/>
          </a:bodyPr>
          <a:lstStyle/>
          <a:p>
            <a:r>
              <a:rPr lang="en-US" b="1" dirty="0"/>
              <a:t>About Us – Regent Fuel Injectors</a:t>
            </a:r>
          </a:p>
          <a:p>
            <a:endParaRPr lang="en-US" sz="1400" dirty="0"/>
          </a:p>
          <a:p>
            <a:r>
              <a:rPr lang="en-US" sz="1600" dirty="0"/>
              <a:t>Regent Fuel Injectors has been a trusted name in the automotive industry since 2014, specializing in diagnostic testing, servicing, and cleaning of gasoline fuel injectors. We combine hands-on expertise with advanced technology to move beyond outdated trial-and-error methods—delivering faster, more accurate diagnostics and consistent results every time.</a:t>
            </a:r>
          </a:p>
          <a:p>
            <a:endParaRPr lang="en-US" sz="1600" dirty="0"/>
          </a:p>
          <a:p>
            <a:r>
              <a:rPr lang="en-US" sz="1600" dirty="0"/>
              <a:t>To be at par with the technology we continuously upgraded our equipment to stay ahead of evolving industry standards. Our systems are approved by global leaders such as BOSCH, Delphi, and Magneti Marelli, allowing us to perform precise and efficient testing on all types of fuel injectors.</a:t>
            </a:r>
          </a:p>
          <a:p>
            <a:endParaRPr lang="en-US" sz="1600" dirty="0"/>
          </a:p>
          <a:p>
            <a:r>
              <a:rPr lang="en-US" sz="1600" dirty="0">
                <a:solidFill>
                  <a:srgbClr val="0070C0"/>
                </a:solidFill>
              </a:rPr>
              <a:t>Every service we provide is built on / At Regent our mission is to built value for our customer </a:t>
            </a:r>
            <a:r>
              <a:rPr lang="en-US" sz="1600" dirty="0"/>
              <a:t>through collaboration, trust, and attention to detail. We take the time to understand each client’s needs and work closely to restore performance, improve efficiency, and extend the life of their engines. </a:t>
            </a:r>
          </a:p>
          <a:p>
            <a:endParaRPr lang="en-US" sz="1600" dirty="0"/>
          </a:p>
          <a:p>
            <a:r>
              <a:rPr lang="en-US" sz="1600" dirty="0"/>
              <a:t>We support automotive dealers, workshops, vehicle owners, fuel injector service centers, as well as marine and motorsport clients. Our comprehensive diagnostic and repair solutions target the root cause of injector issues—ensuring restored performance, improved fuel efficiency, and dependable operation.</a:t>
            </a:r>
          </a:p>
          <a:p>
            <a:endParaRPr lang="en-US" sz="1600" dirty="0"/>
          </a:p>
          <a:p>
            <a:r>
              <a:rPr lang="en-US" sz="1600" dirty="0"/>
              <a:t>As leaders in gasoline fuel injector servicing, we take pride in our technical expertise, transparent processes, and quick turnaround times. At Regent Fuel Injectors, every injector we service is renewed to meet original performance standards—with precision, reliability, and customer satisfaction at the core of everything we do.</a:t>
            </a:r>
          </a:p>
          <a:p>
            <a:pPr algn="just">
              <a:lnSpc>
                <a:spcPct val="150000"/>
              </a:lnSpc>
              <a:spcBef>
                <a:spcPct val="0"/>
              </a:spcBef>
            </a:pPr>
            <a:endParaRPr lang="en-US" sz="1400" b="1" u="none" strike="noStrike" spc="-165" dirty="0">
              <a:solidFill>
                <a:srgbClr val="C00000"/>
              </a:solidFill>
              <a:latin typeface="Lucida Sans" panose="020B0602030504020204" pitchFamily="34" charset="0"/>
              <a:ea typeface="B612 Bold"/>
              <a:cs typeface="B612 Bold"/>
              <a:sym typeface="B612 Bold"/>
            </a:endParaRPr>
          </a:p>
        </p:txBody>
      </p:sp>
    </p:spTree>
    <p:extLst>
      <p:ext uri="{BB962C8B-B14F-4D97-AF65-F5344CB8AC3E}">
        <p14:creationId xmlns:p14="http://schemas.microsoft.com/office/powerpoint/2010/main" val="2875174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F88D4B-8388-45DA-8DF1-2644BA5F39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19479"/>
            <a:ext cx="12192000" cy="3048000"/>
          </a:xfrm>
          <a:prstGeom prst="rect">
            <a:avLst/>
          </a:prstGeom>
          <a:ln w="19050">
            <a:solidFill>
              <a:schemeClr val="accent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80090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19A6AD-091C-4D2F-B74A-EE98952C73D1}"/>
              </a:ext>
            </a:extLst>
          </p:cNvPr>
          <p:cNvSpPr txBox="1"/>
          <p:nvPr/>
        </p:nvSpPr>
        <p:spPr>
          <a:xfrm>
            <a:off x="445537" y="314522"/>
            <a:ext cx="6097554" cy="369332"/>
          </a:xfrm>
          <a:prstGeom prst="rect">
            <a:avLst/>
          </a:prstGeom>
          <a:noFill/>
        </p:spPr>
        <p:txBody>
          <a:bodyPr wrap="square">
            <a:spAutoFit/>
          </a:bodyPr>
          <a:lstStyle/>
          <a:p>
            <a:pPr algn="l"/>
            <a:r>
              <a:rPr lang="en-IN" b="1" i="0" u="none" strike="noStrike" cap="all" dirty="0">
                <a:solidFill>
                  <a:srgbClr val="C00000"/>
                </a:solidFill>
                <a:effectLst/>
                <a:latin typeface="Montserrat" panose="00000500000000000000" pitchFamily="2" charset="0"/>
              </a:rPr>
              <a:t>HOW FUEL INJECTOR WORKS</a:t>
            </a:r>
          </a:p>
        </p:txBody>
      </p:sp>
      <p:pic>
        <p:nvPicPr>
          <p:cNvPr id="6" name="Picture 5">
            <a:extLst>
              <a:ext uri="{FF2B5EF4-FFF2-40B4-BE49-F238E27FC236}">
                <a16:creationId xmlns:a16="http://schemas.microsoft.com/office/drawing/2014/main" id="{4CB3A99C-7187-4C75-9B42-878FDE696304}"/>
              </a:ext>
            </a:extLst>
          </p:cNvPr>
          <p:cNvPicPr>
            <a:picLocks noChangeAspect="1"/>
          </p:cNvPicPr>
          <p:nvPr/>
        </p:nvPicPr>
        <p:blipFill>
          <a:blip r:embed="rId2"/>
          <a:stretch>
            <a:fillRect/>
          </a:stretch>
        </p:blipFill>
        <p:spPr>
          <a:xfrm>
            <a:off x="8602824" y="1119673"/>
            <a:ext cx="3309258" cy="4462692"/>
          </a:xfrm>
          <a:prstGeom prst="rect">
            <a:avLst/>
          </a:prstGeom>
        </p:spPr>
      </p:pic>
      <p:sp>
        <p:nvSpPr>
          <p:cNvPr id="7" name="TextBox 6">
            <a:extLst>
              <a:ext uri="{FF2B5EF4-FFF2-40B4-BE49-F238E27FC236}">
                <a16:creationId xmlns:a16="http://schemas.microsoft.com/office/drawing/2014/main" id="{95A805F0-CF6F-46B2-8AAB-2681AEAE5F16}"/>
              </a:ext>
            </a:extLst>
          </p:cNvPr>
          <p:cNvSpPr txBox="1"/>
          <p:nvPr/>
        </p:nvSpPr>
        <p:spPr>
          <a:xfrm>
            <a:off x="373224" y="1119673"/>
            <a:ext cx="8070980" cy="4770537"/>
          </a:xfrm>
          <a:prstGeom prst="rect">
            <a:avLst/>
          </a:prstGeom>
          <a:noFill/>
        </p:spPr>
        <p:txBody>
          <a:bodyPr wrap="square" rtlCol="0">
            <a:spAutoFit/>
          </a:bodyPr>
          <a:lstStyle/>
          <a:p>
            <a:r>
              <a:rPr lang="en-US" sz="1600" i="0" dirty="0">
                <a:effectLst/>
              </a:rPr>
              <a:t>A fuel injector is an electronically controlled valve that both meters flow of fuel and atomizes fuel. The injector is located on the intake manifold of the engine, and is sealed between the manifold and the fuel supply rail.</a:t>
            </a:r>
          </a:p>
          <a:p>
            <a:pPr algn="l"/>
            <a:r>
              <a:rPr lang="en-US" sz="1600" i="0" dirty="0">
                <a:effectLst/>
              </a:rPr>
              <a:t>Fuel injectors are normally fed power continuously when the ignition key is on. The computer controls the negative or ground side of the circuit. The (ECM or ECU or PCM) computer gathers information from various sensors and using this information, the computer determines the injector’s opening duration required for that combustion stroke. When the computer provides the injector with a ground (flips the switch on), the circuit is completed and current is allowed to flow through the injector’s electromagnetic coil.</a:t>
            </a:r>
          </a:p>
          <a:p>
            <a:pPr algn="l"/>
            <a:r>
              <a:rPr lang="en-US" sz="1600" i="0" dirty="0">
                <a:effectLst/>
              </a:rPr>
              <a:t>Most injectors use a 10 to 20 micron internal final filter screen. A small 25% restriction in the injector filter will cause the ECM to increase the injector’s on-time by 25% to make up for the restricted filter and the loss of fuel flow!</a:t>
            </a:r>
          </a:p>
          <a:p>
            <a:pPr algn="l"/>
            <a:r>
              <a:rPr lang="en-US" sz="1600" i="0" dirty="0">
                <a:effectLst/>
              </a:rPr>
              <a:t>The injector will remain open anywhere between 1 to 20 milliseconds depending on the engine’s needs (as determined by the ECM). The current stops when the computer removes the electric ground to the injector, the electromagnetic coil becomes de-energized and a small coil spring pushes the valve needle to the pintle seat and cuts off fuel flow.</a:t>
            </a:r>
          </a:p>
          <a:p>
            <a:pPr algn="l"/>
            <a:r>
              <a:rPr lang="en-US" sz="1600" i="0" u="none" strike="noStrike" dirty="0">
                <a:effectLst/>
              </a:rPr>
              <a:t>Most dirty and clogged fuel injectors respond well to our ultrasonic fuel injector cleaning service and are restored to a “like new” clean condition and performance.</a:t>
            </a:r>
          </a:p>
          <a:p>
            <a:endParaRPr lang="en-IN" sz="1600" dirty="0"/>
          </a:p>
        </p:txBody>
      </p:sp>
    </p:spTree>
    <p:extLst>
      <p:ext uri="{BB962C8B-B14F-4D97-AF65-F5344CB8AC3E}">
        <p14:creationId xmlns:p14="http://schemas.microsoft.com/office/powerpoint/2010/main" val="277598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40BDD8-33A6-4C06-99CC-7416582CD836}"/>
              </a:ext>
            </a:extLst>
          </p:cNvPr>
          <p:cNvSpPr txBox="1"/>
          <p:nvPr/>
        </p:nvSpPr>
        <p:spPr>
          <a:xfrm>
            <a:off x="277587" y="529126"/>
            <a:ext cx="6097554" cy="369332"/>
          </a:xfrm>
          <a:prstGeom prst="rect">
            <a:avLst/>
          </a:prstGeom>
          <a:noFill/>
        </p:spPr>
        <p:txBody>
          <a:bodyPr wrap="square">
            <a:spAutoFit/>
          </a:bodyPr>
          <a:lstStyle/>
          <a:p>
            <a:pPr algn="l"/>
            <a:r>
              <a:rPr lang="en-IN" b="1" i="0" u="none" strike="noStrike" cap="all" dirty="0">
                <a:solidFill>
                  <a:srgbClr val="C00000"/>
                </a:solidFill>
                <a:effectLst/>
                <a:latin typeface="Montserrat" panose="00000500000000000000" pitchFamily="2" charset="0"/>
              </a:rPr>
              <a:t>Why Injector needs cleaning</a:t>
            </a:r>
          </a:p>
        </p:txBody>
      </p:sp>
      <p:sp>
        <p:nvSpPr>
          <p:cNvPr id="5" name="TextBox 4">
            <a:extLst>
              <a:ext uri="{FF2B5EF4-FFF2-40B4-BE49-F238E27FC236}">
                <a16:creationId xmlns:a16="http://schemas.microsoft.com/office/drawing/2014/main" id="{AB20FF5C-CE94-495E-81BF-862E452B31E0}"/>
              </a:ext>
            </a:extLst>
          </p:cNvPr>
          <p:cNvSpPr txBox="1"/>
          <p:nvPr/>
        </p:nvSpPr>
        <p:spPr>
          <a:xfrm>
            <a:off x="193610" y="1130665"/>
            <a:ext cx="11423001" cy="3785652"/>
          </a:xfrm>
          <a:prstGeom prst="rect">
            <a:avLst/>
          </a:prstGeom>
          <a:noFill/>
        </p:spPr>
        <p:txBody>
          <a:bodyPr wrap="square">
            <a:spAutoFit/>
          </a:bodyPr>
          <a:lstStyle/>
          <a:p>
            <a:r>
              <a:rPr lang="en-US" sz="1600" i="0" dirty="0">
                <a:effectLst/>
              </a:rPr>
              <a:t>Dirty and clogged injectors can cause classic engine problems, lean misfire, rough idle, hesitation, loss of power, and higher emission levels of unburned fuel and carbon monoxide.</a:t>
            </a:r>
          </a:p>
          <a:p>
            <a:pPr algn="l"/>
            <a:r>
              <a:rPr lang="en-US" sz="1600" i="0" dirty="0">
                <a:effectLst/>
              </a:rPr>
              <a:t>It doesn’t take much of a restriction in an injector to lean out the air / fuel mixture. A 10% restriction in the fuel flow of a single fuel injector can be enough to cause a lean misfire. When this occurs, unused oxygen enters the exhaust and makes the O2 sensor read lean (too little gas, too much O2). If the O2 sensor reads lean, then the computer will compensate by increasing the on time of the next injector(s) to fire, resulting in a now overly rich fuel condition. Now dirty hydrocarbon emissions (due to unburned fuel) and carbon monoxide emissions will rise in the cylinders that are now getting too much fuel. This is one cause of carbon and debris deposits on the injectors and the valves !!</a:t>
            </a:r>
          </a:p>
          <a:p>
            <a:pPr algn="l"/>
            <a:r>
              <a:rPr lang="en-US" sz="1600" i="0" dirty="0">
                <a:effectLst/>
              </a:rPr>
              <a:t>The computer can only analyze the combined exhaust gases, and it averages out the air / fuel ratios. One or more clogged fuel injectors will cause some cylinders to run leaner, and the computer will then compensate and then cause other cylinders to run richer. This results in drivability and emissions issues.</a:t>
            </a:r>
          </a:p>
          <a:p>
            <a:pPr algn="l"/>
            <a:r>
              <a:rPr lang="en-US" sz="1600" i="0" dirty="0">
                <a:effectLst/>
              </a:rPr>
              <a:t>Most customers experience a 10 to 15% improvement in gas mileage after getting their injectors cleaned and flow tested! Why pay for new fuel injectors when we can service them to “like new” for a fraction of the cost of new injectors?</a:t>
            </a:r>
          </a:p>
          <a:p>
            <a:pPr algn="l"/>
            <a:r>
              <a:rPr lang="en-US" sz="1600" i="0" u="none" strike="noStrike" dirty="0">
                <a:effectLst/>
              </a:rPr>
              <a:t>Getting your injectors cleaned and flow tested saves you money and just makes good sense!</a:t>
            </a:r>
          </a:p>
          <a:p>
            <a:endParaRPr lang="en-IN" sz="1600" dirty="0"/>
          </a:p>
        </p:txBody>
      </p:sp>
      <p:pic>
        <p:nvPicPr>
          <p:cNvPr id="2050" name="Picture 2">
            <a:extLst>
              <a:ext uri="{FF2B5EF4-FFF2-40B4-BE49-F238E27FC236}">
                <a16:creationId xmlns:a16="http://schemas.microsoft.com/office/drawing/2014/main" id="{B5E90447-6F84-4CA2-8B8E-ECCAAC2B8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6715" y="4999758"/>
            <a:ext cx="3429093" cy="1774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7958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92EDF6-C6F9-45FF-A846-EA6D6A51CF40}"/>
              </a:ext>
            </a:extLst>
          </p:cNvPr>
          <p:cNvSpPr txBox="1"/>
          <p:nvPr/>
        </p:nvSpPr>
        <p:spPr>
          <a:xfrm>
            <a:off x="305578" y="370505"/>
            <a:ext cx="6097554" cy="369332"/>
          </a:xfrm>
          <a:prstGeom prst="rect">
            <a:avLst/>
          </a:prstGeom>
          <a:noFill/>
        </p:spPr>
        <p:txBody>
          <a:bodyPr wrap="square">
            <a:spAutoFit/>
          </a:bodyPr>
          <a:lstStyle/>
          <a:p>
            <a:pPr algn="l"/>
            <a:r>
              <a:rPr lang="en-IN" b="1" i="0" cap="all" dirty="0">
                <a:solidFill>
                  <a:srgbClr val="C00000"/>
                </a:solidFill>
                <a:effectLst/>
                <a:latin typeface="Montserrat" panose="00000500000000000000" pitchFamily="2" charset="0"/>
              </a:rPr>
              <a:t>OUR TESTING &amp; CLEANING PROCEDURE</a:t>
            </a:r>
          </a:p>
        </p:txBody>
      </p:sp>
      <p:sp>
        <p:nvSpPr>
          <p:cNvPr id="5" name="TextBox 4">
            <a:extLst>
              <a:ext uri="{FF2B5EF4-FFF2-40B4-BE49-F238E27FC236}">
                <a16:creationId xmlns:a16="http://schemas.microsoft.com/office/drawing/2014/main" id="{C23BDCC5-502F-49E4-9126-7075FC401A91}"/>
              </a:ext>
            </a:extLst>
          </p:cNvPr>
          <p:cNvSpPr txBox="1"/>
          <p:nvPr/>
        </p:nvSpPr>
        <p:spPr>
          <a:xfrm>
            <a:off x="305578" y="920621"/>
            <a:ext cx="10443287" cy="5016758"/>
          </a:xfrm>
          <a:prstGeom prst="rect">
            <a:avLst/>
          </a:prstGeom>
          <a:noFill/>
        </p:spPr>
        <p:txBody>
          <a:bodyPr wrap="square">
            <a:spAutoFit/>
          </a:bodyPr>
          <a:lstStyle/>
          <a:p>
            <a:pPr algn="l"/>
            <a:r>
              <a:rPr lang="en-US" sz="1600" i="0" dirty="0">
                <a:effectLst/>
              </a:rPr>
              <a:t>1) Injectors are externally cleaned, visual inspected, and numbered.</a:t>
            </a:r>
          </a:p>
          <a:p>
            <a:pPr algn="l"/>
            <a:r>
              <a:rPr lang="en-US" sz="1600" i="0" dirty="0">
                <a:effectLst/>
              </a:rPr>
              <a:t>2) Test injectors for resistance, shorts, and current draw.</a:t>
            </a:r>
          </a:p>
          <a:p>
            <a:pPr algn="l"/>
            <a:r>
              <a:rPr lang="en-US" sz="1600" i="0" dirty="0">
                <a:effectLst/>
              </a:rPr>
              <a:t>3) Perform leak test, spray pattern, resistance while operating, and flow testing, (both pulsed and static), on one of our flow benches. Our different test machines are set up specifically for various types of injectors. The test results are recorded.</a:t>
            </a:r>
          </a:p>
          <a:p>
            <a:pPr algn="l"/>
            <a:r>
              <a:rPr lang="en-US" sz="1600" i="0" dirty="0">
                <a:effectLst/>
              </a:rPr>
              <a:t>4) Remove filter baskets, </a:t>
            </a:r>
            <a:r>
              <a:rPr lang="en-US" sz="1600" i="0" dirty="0" err="1">
                <a:effectLst/>
              </a:rPr>
              <a:t>o-rings</a:t>
            </a:r>
            <a:r>
              <a:rPr lang="en-US" sz="1600" i="0" dirty="0">
                <a:effectLst/>
              </a:rPr>
              <a:t>, pintle caps, </a:t>
            </a:r>
            <a:r>
              <a:rPr lang="en-US" sz="1600" i="0" dirty="0" err="1">
                <a:effectLst/>
              </a:rPr>
              <a:t>etc</a:t>
            </a:r>
            <a:r>
              <a:rPr lang="en-US" sz="1600" i="0" dirty="0">
                <a:effectLst/>
              </a:rPr>
              <a:t> (where applicable).</a:t>
            </a:r>
          </a:p>
          <a:p>
            <a:pPr algn="l"/>
            <a:r>
              <a:rPr lang="en-US" sz="1600" i="0" dirty="0">
                <a:effectLst/>
              </a:rPr>
              <a:t>5) The injectors are placed in our first ultrasonic cleaning tank to remove any particles, grease, </a:t>
            </a:r>
            <a:r>
              <a:rPr lang="en-US" sz="1600" i="0" dirty="0" err="1">
                <a:effectLst/>
              </a:rPr>
              <a:t>etc</a:t>
            </a:r>
            <a:r>
              <a:rPr lang="en-US" sz="1600" i="0" dirty="0">
                <a:effectLst/>
              </a:rPr>
              <a:t> from the exterior that may contaminate the next two cleaning processes.</a:t>
            </a:r>
          </a:p>
          <a:p>
            <a:pPr algn="l"/>
            <a:r>
              <a:rPr lang="en-US" sz="1600" i="0" dirty="0">
                <a:effectLst/>
              </a:rPr>
              <a:t>6) Into the second temperature controlled ultrasonic tank they go, the injectors are now cycled on and off allowing the ultrasonic energy to dislodge any particles and build-up inside the injectors.</a:t>
            </a:r>
          </a:p>
          <a:p>
            <a:pPr algn="l"/>
            <a:r>
              <a:rPr lang="en-US" sz="1600" i="0" dirty="0">
                <a:effectLst/>
              </a:rPr>
              <a:t>7) The injectors are now placed in our third ultrasonic tank for additional cleaning using a different cleaning solution. Once again they are being cycled on and off while being cleaned. This three tank, two cleaning solution cleaning process insures that any particles or contaminates are removed.</a:t>
            </a:r>
          </a:p>
          <a:p>
            <a:pPr algn="l"/>
            <a:r>
              <a:rPr lang="en-US" sz="1600" i="0" dirty="0">
                <a:effectLst/>
              </a:rPr>
              <a:t>8) A high pressure back-flush is now done to remove any remaining particles inside.</a:t>
            </a:r>
          </a:p>
          <a:p>
            <a:pPr algn="l"/>
            <a:r>
              <a:rPr lang="en-US" sz="1600" i="0" dirty="0">
                <a:effectLst/>
              </a:rPr>
              <a:t>9) Back to the flow bench for retesting of spray pattern, flow rate, coil resistance, and leak checking. If any injectors still are not flowing well, they will go back through the cleaning process and retested as many times as needed. This test data is also recorded.</a:t>
            </a:r>
          </a:p>
          <a:p>
            <a:pPr algn="l"/>
            <a:r>
              <a:rPr lang="en-US" sz="1600" i="0" dirty="0">
                <a:effectLst/>
              </a:rPr>
              <a:t>10) Install new filter baskets, </a:t>
            </a:r>
            <a:r>
              <a:rPr lang="en-US" sz="1600" i="0" dirty="0" err="1">
                <a:effectLst/>
              </a:rPr>
              <a:t>o-rings</a:t>
            </a:r>
            <a:r>
              <a:rPr lang="en-US" sz="1600" i="0" dirty="0">
                <a:effectLst/>
              </a:rPr>
              <a:t>, seals, and pintle caps (where applicable)</a:t>
            </a:r>
          </a:p>
          <a:p>
            <a:pPr algn="l"/>
            <a:r>
              <a:rPr lang="en-US" sz="1600" i="0" u="none" strike="noStrike" dirty="0">
                <a:effectLst/>
              </a:rPr>
              <a:t>11) Prepare a comprehensive test report with before and after test data. The injectors are then packed along with the old parts for return.</a:t>
            </a:r>
          </a:p>
          <a:p>
            <a:pPr algn="l"/>
            <a:endParaRPr lang="en-US" sz="1600" i="0" dirty="0">
              <a:solidFill>
                <a:srgbClr val="838383"/>
              </a:solidFill>
              <a:effectLst/>
            </a:endParaRPr>
          </a:p>
        </p:txBody>
      </p:sp>
    </p:spTree>
    <p:extLst>
      <p:ext uri="{BB962C8B-B14F-4D97-AF65-F5344CB8AC3E}">
        <p14:creationId xmlns:p14="http://schemas.microsoft.com/office/powerpoint/2010/main" val="688070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235429-1A62-4352-A9CC-5A689EE689B1}"/>
              </a:ext>
            </a:extLst>
          </p:cNvPr>
          <p:cNvSpPr txBox="1"/>
          <p:nvPr/>
        </p:nvSpPr>
        <p:spPr>
          <a:xfrm>
            <a:off x="622819" y="473143"/>
            <a:ext cx="6097554" cy="369332"/>
          </a:xfrm>
          <a:prstGeom prst="rect">
            <a:avLst/>
          </a:prstGeom>
          <a:noFill/>
        </p:spPr>
        <p:txBody>
          <a:bodyPr wrap="square">
            <a:spAutoFit/>
          </a:bodyPr>
          <a:lstStyle/>
          <a:p>
            <a:pPr algn="l"/>
            <a:r>
              <a:rPr lang="en-IN" b="1" i="0" cap="all" dirty="0">
                <a:solidFill>
                  <a:srgbClr val="C00000"/>
                </a:solidFill>
                <a:effectLst/>
                <a:latin typeface="Montserrat" panose="00000500000000000000" pitchFamily="2" charset="0"/>
              </a:rPr>
              <a:t>GASOLINE DIRECT INJECTOR (GDI)</a:t>
            </a:r>
          </a:p>
        </p:txBody>
      </p:sp>
      <p:sp>
        <p:nvSpPr>
          <p:cNvPr id="5" name="TextBox 4">
            <a:extLst>
              <a:ext uri="{FF2B5EF4-FFF2-40B4-BE49-F238E27FC236}">
                <a16:creationId xmlns:a16="http://schemas.microsoft.com/office/drawing/2014/main" id="{FFECE8E0-0374-41F7-A058-6636B01CD37A}"/>
              </a:ext>
            </a:extLst>
          </p:cNvPr>
          <p:cNvSpPr txBox="1"/>
          <p:nvPr/>
        </p:nvSpPr>
        <p:spPr>
          <a:xfrm>
            <a:off x="622819" y="937069"/>
            <a:ext cx="10480610" cy="5632311"/>
          </a:xfrm>
          <a:prstGeom prst="rect">
            <a:avLst/>
          </a:prstGeom>
          <a:noFill/>
        </p:spPr>
        <p:txBody>
          <a:bodyPr wrap="square">
            <a:spAutoFit/>
          </a:bodyPr>
          <a:lstStyle/>
          <a:p>
            <a:pPr algn="l"/>
            <a:r>
              <a:rPr lang="en-US" sz="1200" i="0" dirty="0">
                <a:solidFill>
                  <a:srgbClr val="838383"/>
                </a:solidFill>
                <a:effectLst/>
              </a:rPr>
              <a:t>Instead of delivering the fuel via an injector in the intake track before the intake valve, GDI or gasoline direct injected engines inject a very fine mist of fuel directly in to the combustion chamber hence the name Direct Injection. Direct injectors operate at fuel pressures that vary between 450 — 3000 Psi. To achieve these pressures, the gasoline is pressurized by a high pressure fuel pump that is mechanically driven and electronically controlled.</a:t>
            </a:r>
          </a:p>
          <a:p>
            <a:pPr algn="l"/>
            <a:r>
              <a:rPr lang="en-US" sz="1200" i="0" u="none" strike="noStrike" dirty="0">
                <a:solidFill>
                  <a:srgbClr val="838383"/>
                </a:solidFill>
                <a:effectLst/>
              </a:rPr>
              <a:t>Manufacturers preferring their own abbreviation of the system, here are some of the ones currently in use:</a:t>
            </a:r>
          </a:p>
          <a:p>
            <a:pPr algn="l"/>
            <a:r>
              <a:rPr lang="en-US" sz="1200" i="0" dirty="0">
                <a:solidFill>
                  <a:srgbClr val="838383"/>
                </a:solidFill>
                <a:effectLst/>
                <a:latin typeface="Open Sans" panose="020B0606030504020204" pitchFamily="34" charset="0"/>
              </a:rPr>
              <a:t>FSI = VW Audi ( Fuel Stratified Injection)</a:t>
            </a:r>
          </a:p>
          <a:p>
            <a:pPr algn="l"/>
            <a:r>
              <a:rPr lang="en-US" sz="1200" i="0" dirty="0" err="1">
                <a:solidFill>
                  <a:srgbClr val="838383"/>
                </a:solidFill>
                <a:effectLst/>
                <a:latin typeface="Open Sans" panose="020B0606030504020204" pitchFamily="34" charset="0"/>
              </a:rPr>
              <a:t>SCi</a:t>
            </a:r>
            <a:r>
              <a:rPr lang="en-US" sz="1200" i="0" dirty="0">
                <a:solidFill>
                  <a:srgbClr val="838383"/>
                </a:solidFill>
                <a:effectLst/>
                <a:latin typeface="Open Sans" panose="020B0606030504020204" pitchFamily="34" charset="0"/>
              </a:rPr>
              <a:t> = Ford (Smart Charge Injection)</a:t>
            </a:r>
          </a:p>
          <a:p>
            <a:pPr algn="l"/>
            <a:r>
              <a:rPr lang="en-US" sz="1200" i="0" dirty="0">
                <a:solidFill>
                  <a:srgbClr val="838383"/>
                </a:solidFill>
                <a:effectLst/>
                <a:latin typeface="Open Sans" panose="020B0606030504020204" pitchFamily="34" charset="0"/>
              </a:rPr>
              <a:t>IDE = Renault (Injection Direct Essence)</a:t>
            </a:r>
          </a:p>
          <a:p>
            <a:pPr algn="l"/>
            <a:r>
              <a:rPr lang="en-US" sz="1200" i="0" dirty="0">
                <a:solidFill>
                  <a:srgbClr val="838383"/>
                </a:solidFill>
                <a:effectLst/>
                <a:latin typeface="Open Sans" panose="020B0606030504020204" pitchFamily="34" charset="0"/>
              </a:rPr>
              <a:t>JTS = Alfa Romeo (Jet Thrust Stoichiometric)</a:t>
            </a:r>
          </a:p>
          <a:p>
            <a:pPr algn="l"/>
            <a:r>
              <a:rPr lang="en-US" sz="1200" i="0" dirty="0">
                <a:solidFill>
                  <a:srgbClr val="838383"/>
                </a:solidFill>
                <a:effectLst/>
                <a:latin typeface="Open Sans" panose="020B0606030504020204" pitchFamily="34" charset="0"/>
              </a:rPr>
              <a:t>SIDI = Holden (Spark Ignition Direct Injection)</a:t>
            </a:r>
          </a:p>
          <a:p>
            <a:pPr algn="l"/>
            <a:r>
              <a:rPr lang="en-US" sz="1200" i="0" dirty="0">
                <a:solidFill>
                  <a:srgbClr val="838383"/>
                </a:solidFill>
                <a:effectLst/>
                <a:latin typeface="Open Sans" panose="020B0606030504020204" pitchFamily="34" charset="0"/>
              </a:rPr>
              <a:t>HPI = BMW (High Precision Injection)</a:t>
            </a:r>
          </a:p>
          <a:p>
            <a:pPr algn="l"/>
            <a:r>
              <a:rPr lang="en-US" sz="1200" i="0" dirty="0">
                <a:solidFill>
                  <a:srgbClr val="838383"/>
                </a:solidFill>
                <a:effectLst/>
                <a:latin typeface="Open Sans" panose="020B0606030504020204" pitchFamily="34" charset="0"/>
              </a:rPr>
              <a:t>HPDI = Porsche (High Pressure Direct Injection)</a:t>
            </a:r>
          </a:p>
          <a:p>
            <a:pPr algn="l"/>
            <a:r>
              <a:rPr lang="en-US" sz="1200" i="0" dirty="0">
                <a:solidFill>
                  <a:srgbClr val="838383"/>
                </a:solidFill>
                <a:effectLst/>
                <a:latin typeface="Open Sans" panose="020B0606030504020204" pitchFamily="34" charset="0"/>
              </a:rPr>
              <a:t>Ecotec = GM, Vauxhall, Opel</a:t>
            </a:r>
          </a:p>
          <a:p>
            <a:pPr algn="l"/>
            <a:r>
              <a:rPr lang="en-US" sz="1200" i="0" dirty="0">
                <a:solidFill>
                  <a:srgbClr val="838383"/>
                </a:solidFill>
                <a:effectLst/>
                <a:latin typeface="Open Sans" panose="020B0606030504020204" pitchFamily="34" charset="0"/>
              </a:rPr>
              <a:t>CGI = Mercedes Benz (Charged Gasoline Injection)</a:t>
            </a:r>
          </a:p>
          <a:p>
            <a:pPr algn="l"/>
            <a:r>
              <a:rPr lang="en-US" sz="1200" i="0" dirty="0">
                <a:solidFill>
                  <a:srgbClr val="838383"/>
                </a:solidFill>
                <a:effectLst/>
                <a:latin typeface="Open Sans" panose="020B0606030504020204" pitchFamily="34" charset="0"/>
              </a:rPr>
              <a:t>DISI = Ford/Mazda (Direct-Injection-Spark-Ignition)</a:t>
            </a:r>
          </a:p>
          <a:p>
            <a:pPr algn="l"/>
            <a:r>
              <a:rPr lang="en-US" sz="1200" i="0" dirty="0">
                <a:solidFill>
                  <a:srgbClr val="838383"/>
                </a:solidFill>
                <a:effectLst/>
                <a:latin typeface="Open Sans" panose="020B0606030504020204" pitchFamily="34" charset="0"/>
              </a:rPr>
              <a:t>GDI = Mitsubishi Peugeot Citroën, Hyundai, Volvo, (Gasoline Direct Injection)</a:t>
            </a:r>
          </a:p>
          <a:p>
            <a:pPr algn="l"/>
            <a:r>
              <a:rPr lang="en-US" sz="1200" i="0" dirty="0">
                <a:solidFill>
                  <a:srgbClr val="838383"/>
                </a:solidFill>
                <a:effectLst/>
                <a:latin typeface="Open Sans" panose="020B0606030504020204" pitchFamily="34" charset="0"/>
              </a:rPr>
              <a:t>Depending on the engine requirements, this style of injectors can have varying types of spray patterns. All direct injectors will atomizing a much smaller fuel droplet size than a normal MPI injector. Conventional injector would have a fuel droplet size of +/- 165 micron, where some GDI injectors would produce a fuel droplet of only +/- 65 micron. To maintain this kind of atomization it is important to include direct injection fuel injector cleaning in your maintenance schedule.</a:t>
            </a:r>
          </a:p>
          <a:p>
            <a:pPr algn="l"/>
            <a:r>
              <a:rPr lang="en-US" sz="1200" i="0" dirty="0">
                <a:solidFill>
                  <a:srgbClr val="838383"/>
                </a:solidFill>
                <a:effectLst/>
                <a:latin typeface="Open Sans" panose="020B0606030504020204" pitchFamily="34" charset="0"/>
              </a:rPr>
              <a:t>Fuel Distribution and Atomization is equally critical to the engine’s performance, fuel economy and emission outputs. A clogged direct injector or a set of dirty direct fuel injectors will cause a range of problems and in some instances even severe engine damage.</a:t>
            </a:r>
          </a:p>
          <a:p>
            <a:pPr algn="l"/>
            <a:r>
              <a:rPr lang="en-US" sz="1200" i="0" dirty="0">
                <a:solidFill>
                  <a:srgbClr val="838383"/>
                </a:solidFill>
                <a:effectLst/>
                <a:latin typeface="Open Sans" panose="020B0606030504020204" pitchFamily="34" charset="0"/>
              </a:rPr>
              <a:t>Our testing equipment allows us to critically examine direct injectors for correct electronic operation in response to changes in mS, RPM and proper atomization as well as the proper cleaning techniques that will allow us to restore your GDI injectors to original specification.</a:t>
            </a:r>
          </a:p>
          <a:p>
            <a:pPr algn="l"/>
            <a:r>
              <a:rPr lang="en-US" sz="1200" i="0" dirty="0">
                <a:solidFill>
                  <a:srgbClr val="838383"/>
                </a:solidFill>
                <a:effectLst/>
                <a:latin typeface="Open Sans" panose="020B0606030504020204" pitchFamily="34" charset="0"/>
              </a:rPr>
              <a:t>Most direct injection fuel injectors are difficult and time consuming to remove and re-fit; would you fit a set of injectors without ensuring they are working correctly?</a:t>
            </a:r>
          </a:p>
          <a:p>
            <a:pPr algn="l"/>
            <a:r>
              <a:rPr lang="en-US" sz="1200" i="0" dirty="0">
                <a:solidFill>
                  <a:srgbClr val="838383"/>
                </a:solidFill>
                <a:effectLst/>
                <a:latin typeface="Open Sans" panose="020B0606030504020204" pitchFamily="34" charset="0"/>
              </a:rPr>
              <a:t>Insist your dealer/mechanic/technician send your dirty clogged or leaking direct fuel injectors to us for cleaning before they attempt to replace them with expensive new ones. If the injector does not perform up to spec or we can not clean them, we will not charge you for the time spent on that injector. You will only be </a:t>
            </a:r>
            <a:r>
              <a:rPr lang="en-US" sz="1200" i="0" dirty="0" err="1">
                <a:solidFill>
                  <a:srgbClr val="838383"/>
                </a:solidFill>
                <a:effectLst/>
                <a:latin typeface="Open Sans" panose="020B0606030504020204" pitchFamily="34" charset="0"/>
              </a:rPr>
              <a:t>be</a:t>
            </a:r>
            <a:r>
              <a:rPr lang="en-US" sz="1200" i="0" dirty="0">
                <a:solidFill>
                  <a:srgbClr val="838383"/>
                </a:solidFill>
                <a:effectLst/>
                <a:latin typeface="Open Sans" panose="020B0606030504020204" pitchFamily="34" charset="0"/>
              </a:rPr>
              <a:t> responsible for return shipping.</a:t>
            </a:r>
          </a:p>
          <a:p>
            <a:pPr algn="l"/>
            <a:r>
              <a:rPr lang="en-US" sz="1200" i="0" u="none" strike="noStrike" dirty="0">
                <a:solidFill>
                  <a:srgbClr val="838383"/>
                </a:solidFill>
                <a:effectLst/>
                <a:latin typeface="Open Sans" panose="020B0606030504020204" pitchFamily="34" charset="0"/>
              </a:rPr>
              <a:t>Ultrasonic fuel injector cleaning service and flow testing will restore your dirty or clogged fuel injectors to the same level of a new fuel injector.</a:t>
            </a:r>
          </a:p>
          <a:p>
            <a:pPr algn="l"/>
            <a:endParaRPr lang="en-US" sz="1200" i="0" u="none" strike="noStrike" dirty="0">
              <a:solidFill>
                <a:srgbClr val="838383"/>
              </a:solidFill>
              <a:effectLst/>
            </a:endParaRPr>
          </a:p>
        </p:txBody>
      </p:sp>
    </p:spTree>
    <p:extLst>
      <p:ext uri="{BB962C8B-B14F-4D97-AF65-F5344CB8AC3E}">
        <p14:creationId xmlns:p14="http://schemas.microsoft.com/office/powerpoint/2010/main" val="992237601"/>
      </p:ext>
    </p:extLst>
  </p:cSld>
  <p:clrMapOvr>
    <a:masterClrMapping/>
  </p:clrMapOvr>
</p:sld>
</file>

<file path=ppt/theme/theme1.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76176" rIns="0" bIns="101568" numCol="1" anchor="ctr"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sz="1200" b="0" i="0" u="none" strike="noStrike" cap="none" normalizeH="0" baseline="0" dirty="0" smtClean="0">
            <a:ln>
              <a:noFill/>
            </a:ln>
            <a:solidFill>
              <a:srgbClr val="0A0A0A"/>
            </a:solidFill>
            <a:effectLst/>
            <a:latin typeface="Google Sans"/>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2012</TotalTime>
  <Words>2235</Words>
  <Application>Microsoft Office PowerPoint</Application>
  <PresentationFormat>Widescreen</PresentationFormat>
  <Paragraphs>110</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Calibri Light</vt:lpstr>
      <vt:lpstr>Canva Sans Bold</vt:lpstr>
      <vt:lpstr>Google Sans</vt:lpstr>
      <vt:lpstr>Lucida Sans</vt:lpstr>
      <vt:lpstr>Montserrat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Elyas Seliya</cp:lastModifiedBy>
  <cp:revision>47</cp:revision>
  <dcterms:created xsi:type="dcterms:W3CDTF">2025-10-10T06:40:08Z</dcterms:created>
  <dcterms:modified xsi:type="dcterms:W3CDTF">2026-09-18T10:40:04Z</dcterms:modified>
</cp:coreProperties>
</file>